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182880"/>
            <a:ext cx="3017520" cy="3017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572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Sarabun"/>
              </a:rPr>
              <a:t>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65760"/>
            <a:ext cx="256032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93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arabun"/>
              </a:rPr>
              <a:t>SDG 2  ·  SDG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arabun"/>
              </a:rPr>
              <a:t>ระบบพยากรณ์ความต้องการอาหาร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C9A7"/>
                </a:solidFill>
                <a:latin typeface="Sarabun"/>
              </a:rPr>
              <a:t>และวางแผนลดขยะ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0C4DE"/>
                </a:solidFill>
                <a:latin typeface="Sarabun"/>
              </a:rPr>
              <a:t>Food Waste Prediction &amp; Optimization Planner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arabun"/>
              </a:rPr>
              <a:t>Palus Kaewaram  (66070131)  ·  Natthapol Aiemburanont  (66070062)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13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Sarabun"/>
              </a:rPr>
              <a:t>วิชา MLOps  |  มีนาคม 2569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PyTorch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Prefect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MLflow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Streamlit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5852160"/>
            <a:ext cx="17830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58521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9A7"/>
                </a:solidFill>
                <a:latin typeface="Sarabun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ปัญหา  —  Food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Sarabun"/>
              </a:rPr>
              <a:t>1 ใน 3 ของอาหารทั่วโลกถูกทิ้งเป็นขยะ  (FAO)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749039" cy="2103120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  <a:latin typeface="Sarabun"/>
              </a:rPr>
              <a:t>1 ใน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Sarabun"/>
              </a:rPr>
              <a:t>ของอาหารโลกถูกทิ้ง
ทุกปี  (FAO)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749039" cy="2103120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25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5350"/>
                </a:solidFill>
                <a:latin typeface="Sarabun"/>
              </a:rPr>
              <a:t>733 ล้านคน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Sarabun"/>
              </a:rPr>
              <a:t>ยังขาดแคลนอาหาร
(SOFI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749039" cy="2103120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800"/>
                </a:solidFill>
                <a:latin typeface="Sarabun"/>
              </a:rPr>
              <a:t>1.3 พันล้านตัน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Sarabun"/>
              </a:rPr>
              <a:t>สูญเสียโดยเปล่าประโยชน์
ต่อปี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arabun"/>
              </a:rPr>
              <a:t>ปัญหาที่ร้านเบเกอรี่ / โรงอาหารเจอ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2816352" cy="19202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Sarabun"/>
              </a:rPr>
              <a:t>เตรียมเกิน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091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ไม่รู้ว่าแต่ละวันต้องเตรียมเท่าไร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6" y="4160520"/>
            <a:ext cx="2816352" cy="19202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4251960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5350"/>
                </a:solidFill>
                <a:latin typeface="Sarabun"/>
              </a:rPr>
              <a:t>ตัดสินใจด้วยความรู้สึก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7091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ไม่มีข้อมูลสนับสนุน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4160520"/>
            <a:ext cx="2816352" cy="19202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251960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800"/>
                </a:solidFill>
                <a:latin typeface="Sarabun"/>
              </a:rPr>
              <a:t>ยอดขายผันผวน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7091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วันหยุด ≠ วันธรรมดา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4160520"/>
            <a:ext cx="2816352" cy="19202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4251960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  <a:latin typeface="Sarabun"/>
              </a:rPr>
              <a:t>ขาดเครื่องมือ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47091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ซอฟต์แวร์ Enterprise แพงเกินไป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Solution  —  แนวทางแก้ไข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777240" cy="7772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48840"/>
            <a:ext cx="224028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โหลดข้อมูล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20,507 transactions 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7" y="1234440"/>
            <a:ext cx="777240" cy="77724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7" y="1234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2148840"/>
            <a:ext cx="224028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Feature Eng.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743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4 features: วัน/เดือน/วันที่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68696" y="1234440"/>
            <a:ext cx="77724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1234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148840"/>
            <a:ext cx="224028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50"/>
                </a:solidFill>
                <a:latin typeface="Sarabun"/>
              </a:rPr>
              <a:t>MLP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743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4→32→16→1  ·  1,000 epochs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1234440"/>
            <a:ext cx="777240" cy="7772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234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5783" y="2148840"/>
            <a:ext cx="224028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3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  <a:latin typeface="Sarabun"/>
              </a:rPr>
              <a:t>Safety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3" y="2743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เพิ่ม +5% อัตโนมัติ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68712" y="1234440"/>
            <a:ext cx="777240" cy="77724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1234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65792" y="2148840"/>
            <a:ext cx="224028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  <a:latin typeface="Sarabun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743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Streamlit ภาษาไทย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arabun"/>
              </a:rPr>
              <a:t>นวัตกรรมหลัก  :  Per-Item Mean Normalization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029200"/>
            <a:ext cx="11430000" cy="4572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932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ปัญหา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09320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Coffee ~35/วัน  vs  Brownie ~5/วัน → scale ต่างกัน 7x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541264"/>
            <a:ext cx="11430000" cy="4572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6052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Sarabun"/>
              </a:rPr>
              <a:t>วิธีแก้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605272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demand_norm = demand / item_mean  →  ทุก item normalize รอบ 1.0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6053328"/>
            <a:ext cx="11430000" cy="4572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117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Sarabun"/>
              </a:rPr>
              <a:t>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11733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predicted = norm_factor × item_mean  →  แปลงกลับสู่หน่วยจริง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System Architecture  —  สถาปัตยกรรมระบบ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30352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Training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4937760" cy="731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928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📂 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bakery_sales_revised.csv  (20,507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7860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15768"/>
            <a:ext cx="4937760" cy="731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7977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⚙️  Prefect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7977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Orchestrate @flow / @task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65575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02736"/>
            <a:ext cx="4937760" cy="731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6674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Sarabun"/>
              </a:rPr>
              <a:t>🧠  MLP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66674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4→32→16→1  ·  Adam  ·  L1Loss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3525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89704"/>
            <a:ext cx="4937760" cy="731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537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  <a:latin typeface="Sarabun"/>
              </a:rPr>
              <a:t>📊  MLflow+DagsHub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55371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Log params &amp; 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23951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76672"/>
            <a:ext cx="4937760" cy="7315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44068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Sarabun"/>
              </a:rPr>
              <a:t>💾  Save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440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demand_model.pth  ·  item_map.json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9A7"/>
                </a:solidFill>
                <a:latin typeface="Sarabun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114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arabun"/>
              </a:rPr>
              <a:t>model
artifacts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234440"/>
            <a:ext cx="548640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Serving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874519"/>
            <a:ext cx="2377440" cy="18288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19385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Sarabun"/>
              </a:rPr>
              <a:t>FastAPI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304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Render.com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633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/health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9535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/items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2735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/predict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D166"/>
                </a:solidFill>
                <a:latin typeface="Sarabun"/>
              </a:rPr>
              <a:t>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874519"/>
            <a:ext cx="1965960" cy="18288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1938528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800"/>
                </a:solidFill>
                <a:latin typeface="Sarabun"/>
              </a:rPr>
              <a:t>Streamlit
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60604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Streamlit Cloud
ภาษาไทย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858768"/>
            <a:ext cx="5120640" cy="109728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MLflow  +  DagsHub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315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Experiment tracking  ·  Model registry  ·  Run comparison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5120640"/>
            <a:ext cx="5120640" cy="10515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5184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  <a:latin typeface="Sarabun"/>
              </a:rPr>
              <a:t>Docker Compose  —  3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5412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mlflow :5000  ·  backend :8000  ·  frontend :8501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ML Model  —  MLP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Sarabun"/>
              </a:rPr>
              <a:t>4 Features  ·  4→32→16→1  ·  Adam  ·  L1Loss  ·  1,000 epochs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66928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50876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  <a:latin typeface="Sarabun"/>
              </a:rPr>
              <a:t>Input (4)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1508760" cy="38404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day_of_week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508760" cy="38404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  <a:latin typeface="Sarabun"/>
              </a:rPr>
              <a:t>is_weekend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1508760" cy="38404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015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  <a:latin typeface="Sarabun"/>
              </a:rPr>
              <a:t>month_norm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58768"/>
            <a:ext cx="1508760" cy="38404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587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  <a:latin typeface="Sarabun"/>
              </a:rPr>
              <a:t>day_norm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743200"/>
            <a:ext cx="1097280" cy="9144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7432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  <a:latin typeface="Sarabun"/>
              </a:rPr>
              <a:t>32
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34640"/>
            <a:ext cx="960120" cy="7315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834640"/>
            <a:ext cx="960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CAF50"/>
                </a:solidFill>
                <a:latin typeface="Sarabun"/>
              </a:rPr>
              <a:t>16
ReLU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886200"/>
            <a:ext cx="155448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9136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Sarabun"/>
              </a:rPr>
              <a:t>Output (1)
demand_norm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00600"/>
            <a:ext cx="5303520" cy="13716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64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Sarabun"/>
              </a:rPr>
              <a:t>Normalization: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demand_norm  =  demand / item_mean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predicted    =  norm_factor × item_mean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234440"/>
            <a:ext cx="557784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Training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8745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Optimizer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7451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Adam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258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Learning Rate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2585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0.005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64261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Epochs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642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1,000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02666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Loss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02666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L1Loss (MAE)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4107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Batch 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41071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Full batch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794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Device 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794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arabun"/>
              </a:rPr>
              <a:t>CPU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251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Sarabun"/>
              </a:rPr>
              <a:t>Per-Item Mean Demand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70916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Coffee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70916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34.6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70916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Tea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59" y="470916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9.1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05663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Bread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05663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20.9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05663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Sandwich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59" y="505663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5.0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40410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Cake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404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7.0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540410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Pastry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59" y="5404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5.7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75157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Medialuna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7515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75157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Cookies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59" y="57515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3.8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60990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Hot Choc.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609904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60990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Brownie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59" y="609904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MLOps Pipeline  —  Prefect + MLflow + DagsHub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48640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Prefect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12064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2023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@flow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202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food-waste-training-pipeline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0603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24912"/>
            <a:ext cx="512064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706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@task  load_data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7063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อ่าน CSV · 20,507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564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75304"/>
            <a:ext cx="512064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210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Sarabun"/>
              </a:rPr>
              <a:t>@task  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62102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PyTorch MLP · Adam · L1Loss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0682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25696"/>
            <a:ext cx="512064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47141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  <a:latin typeface="Sarabun"/>
              </a:rPr>
              <a:t>@task  mlflow_log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47141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log params + MAE_normalized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1572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76088"/>
            <a:ext cx="512064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321807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Sarabun"/>
              </a:rPr>
              <a:t>@task  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321807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demand_model.pth · item_map.json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1234440"/>
            <a:ext cx="585216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984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MLflow  +  DagsHub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874519"/>
            <a:ext cx="5486400" cy="27432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938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Parameters Logged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3774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epochs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37744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1000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7249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lr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7249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0.005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0723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architecture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07238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4-32-16-1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4198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normalization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4198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per_item_mean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7673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loss 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76732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L1Loss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754880"/>
            <a:ext cx="5486400" cy="9144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8188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Sarabun"/>
              </a:rPr>
              <a:t>Metric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138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MAE_normalized  ~0.10 – 0.12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788152"/>
            <a:ext cx="5486400" cy="594360"/>
          </a:xfrm>
          <a:prstGeom prst="roundRect">
            <a:avLst/>
          </a:prstGeom>
          <a:solidFill>
            <a:srgbClr val="1A3550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852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DagsHub  —  Compare runs · Roll back · Model registry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Deployment  —  Docker · Render · Streamlit Cloud · DagsHub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3794760" cy="251460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9A7"/>
                </a:solidFill>
                <a:latin typeface="Sarabun"/>
              </a:rPr>
              <a:t>MLflow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166"/>
                </a:solidFill>
                <a:latin typeface="Sarabun"/>
              </a:rPr>
              <a:t>Port 5000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Experiment Tracking
./mlruns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2267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34440"/>
            <a:ext cx="3794760" cy="251460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50"/>
                </a:solidFill>
                <a:latin typeface="Sarabun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166"/>
                </a:solidFill>
                <a:latin typeface="Sarabun"/>
              </a:rPr>
              <a:t>Port 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FastAPI  (Render.com)
Models bundled in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7" y="2267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234440"/>
            <a:ext cx="3794760" cy="251460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  <a:latin typeface="Sarabun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166"/>
                </a:solidFill>
                <a:latin typeface="Sarabun"/>
              </a:rPr>
              <a:t>Port 8501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Streamlit  (Streamlit Cloud)
Thai UI · depends_on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690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arabun"/>
              </a:rPr>
              <a:t>Cloud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72000"/>
            <a:ext cx="384048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Push to GitHub  →  Render.com auto-deploy 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983480"/>
            <a:ext cx="384048" cy="34747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9834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Streamlit Cloud connect GitHub  →  auto-deploy 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94960"/>
            <a:ext cx="384048" cy="347472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949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949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Set MLFLOW_TRACKING_URI  →  DagsHub remote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06440"/>
            <a:ext cx="384048" cy="34747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064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Set API_URL in Streamlit Cloud  →  point to Render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931920"/>
            <a:ext cx="4114800" cy="260604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40050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Environment Variables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MLFLOW_TRACKING_URI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DagsHub 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9377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MLFLOW_TRACKING_USERNAME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138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DagsHub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MLFLOW_TRACKING_PASSWORD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614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DagsHub token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888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API_URL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60899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Render.com URL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6473952"/>
            <a:ext cx="384048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64739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  <a:latin typeface="Sarabun"/>
              </a:rPr>
              <a:t>docker-compose up --build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Results  —  ผลการทดสอบโมเดล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Sarabun"/>
              </a:rPr>
              <a:t>Validation set · 80/20 chronological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816352" cy="16459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A7"/>
                </a:solidFill>
                <a:latin typeface="Sarabun"/>
              </a:rPr>
              <a:t>MAE ~0.10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9339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Normalized MAE
validation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1234440"/>
            <a:ext cx="2816352" cy="16459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3258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50"/>
                </a:solidFill>
                <a:latin typeface="Sarabun"/>
              </a:rPr>
              <a:t>&lt; 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99339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MAE สูงสุดของ
ทุก item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34440"/>
            <a:ext cx="2816352" cy="16459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258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  <a:latin typeface="Sarabun"/>
              </a:rPr>
              <a:t>vs ~0.17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9339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Baseline (predict
mean every day)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8008" y="1234440"/>
            <a:ext cx="2816352" cy="16459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3258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800"/>
                </a:solidFill>
                <a:latin typeface="Sarabun"/>
              </a:rPr>
              <a:t>MLP &gt; 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199339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Non-linear patterns
ถูกจับได้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200400"/>
            <a:ext cx="5669280" cy="333756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644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Sarabun"/>
              </a:rPr>
              <a:t>Per-Item 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703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03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Avg/day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03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MAE%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703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0416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Coffee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0416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416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041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Sarabun"/>
              </a:rPr>
              <a:t>Good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288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Tea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288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9.1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2885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885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53542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53542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20.9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53542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5354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Sarabun"/>
              </a:rPr>
              <a:t>Good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47823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Sandwich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7823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823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78231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0292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50292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7.0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0292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029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2760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Pastry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52760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2760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2760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552297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Medialuna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552297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52297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5229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57698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Cookies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57698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57698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76986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800"/>
                </a:solidFill>
                <a:latin typeface="Sarabun"/>
              </a:rPr>
              <a:t>Marg.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" y="6016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Hot Choc.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65960" y="6016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6016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6016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" y="6263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Brownie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65960" y="6263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0" y="62636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62636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800"/>
                </a:solidFill>
                <a:latin typeface="Sarabun"/>
              </a:rPr>
              <a:t>Marg.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3200400"/>
            <a:ext cx="5623560" cy="333756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326440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ตัวอย่าง — วันจันทร์ มีนาคม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37033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Item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37033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Predict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37033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Recommend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37033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Waste kg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40416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Coffee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0416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33.8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9720" y="40416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35.5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40416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42885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Tea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2885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8.7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42885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9.1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42885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20.1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972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21.1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0" y="45354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5080" y="47823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Sandwich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47823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89720" y="47823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47823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55080" y="50292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Cake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0292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6.7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89720" y="50292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7.0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15600" y="50292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52760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Pastry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52760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89720" y="52760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52760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55080" y="55229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Medialuna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18120" y="55229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89720" y="55229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15600" y="55229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0.07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55080" y="57698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Cookies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18120" y="57698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89720" y="57698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15600" y="57698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0.07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55080" y="60167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Hot Choc.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18120" y="60167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89720" y="60167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0" y="60167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0.07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55080" y="6263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Brownie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18120" y="6263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89720" y="6263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15600" y="6263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  <a:latin typeface="Sarabun"/>
              </a:rPr>
              <a:t>0.07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arabun"/>
              </a:rPr>
              <a:t>Impact &amp; Sustainability  —  SDG 2 · SDG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669280" cy="1965960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280160" cy="62179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280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Sarabun"/>
              </a:rPr>
              <a:t>SDG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  <a:latin typeface="Sarabun"/>
              </a:rPr>
              <a:t>Zero Hunger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+5% Safety Stock ให้อาหารพร้อมเสมอ
ของเหลือสามารถบริจาคได้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669280" cy="1965960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1280160" cy="621792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1280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Sarabun"/>
              </a:rPr>
              <a:t>SDG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1732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arabun"/>
              </a:rPr>
              <a:t>Responsible 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Sarabun"/>
              </a:rPr>
              <a:t>เปลี่ยนจาก gut feeling → Data-Driven
แสดงขยะ (กก.) สร้าง awareness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20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  <a:latin typeface="Sarabun"/>
              </a:rPr>
              <a:t>ผลกระทบที่วัดได้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005072"/>
            <a:ext cx="2816352" cy="20574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9651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50"/>
                </a:solidFill>
                <a:latin typeface="Sarabun"/>
              </a:rPr>
              <a:t>4,562 กก. CO2e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754880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ลดต่อปี
ต่อ 1 ร้าน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82696" y="4005072"/>
            <a:ext cx="2816352" cy="20574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409651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800"/>
                </a:solidFill>
                <a:latin typeface="Sarabun"/>
              </a:rPr>
              <a:t>60,000 บาท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754880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ประหยัดต่อปี
ต่อ 1 ร้าน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005072"/>
            <a:ext cx="2816352" cy="20574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09651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A7"/>
                </a:solidFill>
                <a:latin typeface="Sarabun"/>
              </a:rPr>
              <a:t>&lt; 16%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754880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ทุก item
อยู่ในเกณฑ์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8" y="4005072"/>
            <a:ext cx="2816352" cy="20574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409651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5350"/>
                </a:solidFill>
                <a:latin typeface="Sarabun"/>
              </a:rPr>
              <a:t>50,000+ ร้าน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4754880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ตลาดเป้าหมาย
ในไทย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7220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" y="6281928"/>
            <a:ext cx="2176272" cy="47548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630936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M3 · Auto-retrain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1760" y="6281928"/>
            <a:ext cx="2176272" cy="47548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630936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M6 · A/B Testing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79" y="6281928"/>
            <a:ext cx="2176272" cy="47548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19" y="630936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Y1 · Multi-location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199" y="6281928"/>
            <a:ext cx="2176272" cy="47548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630936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Y2 · Event features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19" y="6281928"/>
            <a:ext cx="2176272" cy="475488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59" y="630936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Y3 · AI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-457200"/>
            <a:ext cx="4114800" cy="4114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Sarabun"/>
              </a:rPr>
              <a:t>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Sarabun"/>
              </a:rPr>
              <a:t>ขอบคุณ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1">
                <a:solidFill>
                  <a:srgbClr val="00C9A7"/>
                </a:solidFill>
                <a:latin typeface="Sarabun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  <a:latin typeface="Sarabun"/>
              </a:rPr>
              <a:t>20,507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315968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transactions
real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arabun"/>
              </a:rPr>
              <a:t>4→32→16→1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15968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MLP Neural
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19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CAF50"/>
                </a:solidFill>
                <a:latin typeface="Sarabun"/>
              </a:rPr>
              <a:t>+5%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4315968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Stock buffer
auto-applied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199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800"/>
                </a:solidFill>
                <a:latin typeface="Sarabun"/>
              </a:rPr>
              <a:t>&lt; 16% 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315968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All items
in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19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5350"/>
                </a:solidFill>
                <a:latin typeface="Sarabun"/>
              </a:rPr>
              <a:t>SDG 2 + 12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4315968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Zero Hunger
Resp. Consumption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23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PyTorch  ·  Prefect  ·  MLflow  ·  DagsHub  ·  FastAPI  ·  Streamlit  · 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362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  <a:latin typeface="Sarabun"/>
              </a:rPr>
              <a:t>Palus Kaewaram (66070131)  ·  Natthapol Aiemburanont (66070062)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