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74320"/>
            <a:ext cx="2743200" cy="27432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502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Sarabun"/>
              </a:rPr>
              <a:t>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65760"/>
            <a:ext cx="320040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931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arabun"/>
              </a:rPr>
              <a:t>SDG 2  ·  SDG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arabun"/>
              </a:rPr>
              <a:t>ระบบพยากรณ์ความต้องการอาหาร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9A7"/>
                </a:solidFill>
                <a:latin typeface="Sarabun"/>
              </a:rPr>
              <a:t>และวางแผนลดขยะ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C4DE"/>
                </a:solidFill>
                <a:latin typeface="Sarabun"/>
              </a:rPr>
              <a:t>Food Waste Prediction &amp; Optimization Planner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4930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Sarabun"/>
              </a:rPr>
              <a:t>ผู้พัฒนา  :  Palus Kaewaram  (66070131)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Sarabun"/>
              </a:rPr>
              <a:t>ออกแบบระบบ  :  Natthapol Aiemburanont  (66070062)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793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  <a:latin typeface="Sarabun"/>
              </a:rPr>
              <a:t>วิชา  :  MLOps  |  มีนาคม 2569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43600"/>
            <a:ext cx="1737360" cy="4572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  <a:latin typeface="Sarabun"/>
              </a:rPr>
              <a:t>PyTorch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943600"/>
            <a:ext cx="1737360" cy="4572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  <a:latin typeface="Sarabun"/>
              </a:rPr>
              <a:t>Prefect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5943600"/>
            <a:ext cx="1737360" cy="4572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  <a:latin typeface="Sarabun"/>
              </a:rPr>
              <a:t>MLflow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943600"/>
            <a:ext cx="1737360" cy="4572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  <a:latin typeface="Sarabun"/>
              </a:rPr>
              <a:t>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943600"/>
            <a:ext cx="1737360" cy="4572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  <a:latin typeface="Sarabun"/>
              </a:rPr>
              <a:t>Streamlit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5943600"/>
            <a:ext cx="1737360" cy="4572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5943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9A7"/>
                </a:solidFill>
                <a:latin typeface="Sarabun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Executive Summary  —  ภาพรวมโครงการ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2176272" cy="16916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2588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  <a:latin typeface="Sarabun"/>
              </a:rPr>
              <a:t>20,507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transactions
ข้อมูลจริง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3472" y="1234440"/>
            <a:ext cx="2176272" cy="16916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32588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arabun"/>
              </a:rPr>
              <a:t>10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92024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รายการอาหาร
ที่รองรับ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6903" y="1234440"/>
            <a:ext cx="2176272" cy="16916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2588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1CF66"/>
                </a:solidFill>
                <a:latin typeface="Sarabun"/>
              </a:rPr>
              <a:t>MLP 4→32→16→1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3" y="192024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Neural Network
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234440"/>
            <a:ext cx="2176272" cy="16916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132588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94D"/>
                </a:solidFill>
                <a:latin typeface="Sarabun"/>
              </a:rPr>
              <a:t>+5%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192024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Safety Stock
อัตโนมัติ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3767" y="1234440"/>
            <a:ext cx="2176272" cy="16916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7" y="132588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  <a:latin typeface="Sarabun"/>
              </a:rPr>
              <a:t>0.35 กก.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207" y="192024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Waste Factor
ต่อหน่วย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735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arabun"/>
              </a:rPr>
              <a:t>จุดเด่นของโครงการ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49039"/>
            <a:ext cx="11430000" cy="47548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13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Per-Item Mean 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81304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โมเดลเดียว ทำนายได้ทุกสินค้า ไม่จำเป็นต้องเทรน 10 โมเดล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97679"/>
            <a:ext cx="11430000" cy="47548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616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4 Features เท่านั้น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36168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day_of_week · is_weekend · month_norm · day_norm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846320"/>
            <a:ext cx="11430000" cy="47548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10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1,000 Epochs · Adam · L1Loss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91032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Training แบบ batch เต็ม ลด noise จาก outlier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394959"/>
            <a:ext cx="11430000" cy="47548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458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Thai-First 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45896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ภาษาไทย · หน่วยถูกต้อง · ใช้ได้ทันทีโดยไม่ต้องฝึก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43600"/>
            <a:ext cx="11430000" cy="47548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007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Production-Ready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600760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Render.com + Streamlit Cloud + DagsHub ฟรีทั้งหมด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Problem Statement  —  ความชัดเจนของโจทย์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ข้อมูลสนับสนุนจากองค์การอาหารและเกษตรแห่งสหประชาชาติ (FAO)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3767328" cy="19202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3584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9A7"/>
                </a:solidFill>
                <a:latin typeface="Sarabun"/>
              </a:rPr>
              <a:t>1 ใน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Sarabun"/>
              </a:rPr>
              <a:t>ของอาหารทั่วโลกถูกทิ้งเป็นขยะ
ทุกปี  (FAO, 2011)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234440"/>
            <a:ext cx="3767328" cy="19202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325880"/>
            <a:ext cx="3584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B6B"/>
                </a:solidFill>
                <a:latin typeface="Sarabun"/>
              </a:rPr>
              <a:t>733 ล้านคน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011680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Sarabun"/>
              </a:rPr>
              <a:t>ยังขาดแคลนอาหารทั่วโลก
(SOFI Report,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1234440"/>
            <a:ext cx="3767328" cy="192024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1325880"/>
            <a:ext cx="3584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94D"/>
                </a:solidFill>
                <a:latin typeface="Sarabun"/>
              </a:rPr>
              <a:t>1.3 พันล้านตัน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011680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Sarabun"/>
              </a:rPr>
              <a:t>ต่อปีที่สูญเสียไป
โดยเปล่าประโยชน์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930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166"/>
                </a:solidFill>
                <a:latin typeface="Sarabun"/>
              </a:rPr>
              <a:t>ปัญหาที่โรงอาหาร / ร้านเบเกอรี่พบบ่อย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041648"/>
            <a:ext cx="281635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33087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เตรียมอาหารเกิน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ไม่รู้ว่าแต่ละวันควรเตรียมเท่าไร
→ ของเหลือ → ทิ้ง → ขาดทุน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82696" y="4041648"/>
            <a:ext cx="281635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4133087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Sarabun"/>
              </a:rPr>
              <a:t>ขาดข้อมูลจริง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461772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ตัดสินใจด้วยความรู้สึก
ไม่ใช่ข้อมูล (gut feeling)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041648"/>
            <a:ext cx="281635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133087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94D"/>
                </a:solidFill>
                <a:latin typeface="Sarabun"/>
              </a:rPr>
              <a:t>ความผันผวนตามวัน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61772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ยอดขายวันหยุด ≠ วันธรรมดา
ยากจะคาดเดาด้วยตาเปล่า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8008" y="4041648"/>
            <a:ext cx="281635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4133087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1CF66"/>
                </a:solidFill>
                <a:latin typeface="Sarabun"/>
              </a:rPr>
              <a:t>ขาดเครื่องมือราคาถูก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461772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Enterprise RM Software
แพงเกินไปสำหรับ SME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Solution &amp; Innovation  —  แนวทางแก้ไขและนวัตกรรม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731520" cy="7315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148840"/>
            <a:ext cx="2176272" cy="22860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267712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  <a:latin typeface="Sarabun"/>
              </a:rPr>
              <a:t>โหลดข้อมูลจริง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88920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20,507 transactions
ต.ค. 2016 – เม.ย. 2017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234440"/>
            <a:ext cx="731520" cy="73152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234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148840"/>
            <a:ext cx="2176272" cy="22860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267712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Feature Eng.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788920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4 features:
day / weekend / month / 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19" y="1234440"/>
            <a:ext cx="731520" cy="73152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19" y="1234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79" y="2148840"/>
            <a:ext cx="2176272" cy="22860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19" y="2267712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1CF66"/>
                </a:solidFill>
                <a:latin typeface="Sarabun"/>
              </a:rPr>
              <a:t>MLP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788920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4→32→16→1
1,000 epochs · Adam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234440"/>
            <a:ext cx="731520" cy="731520"/>
          </a:xfrm>
          <a:prstGeom prst="round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1234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19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199" y="2148840"/>
            <a:ext cx="2176272" cy="22860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267712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94D"/>
                </a:solidFill>
                <a:latin typeface="Sarabun"/>
              </a:rPr>
              <a:t>Safety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788920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เพิ่ม +5%
ไม่ให้ของขาด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59" y="1234440"/>
            <a:ext cx="731520" cy="7315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59" y="1234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1B2A"/>
                </a:solidFill>
                <a:latin typeface="Sarabun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19" y="2148840"/>
            <a:ext cx="2176272" cy="22860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59" y="2267712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Sarabun"/>
              </a:rPr>
              <a:t>Dashboard Thai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59" y="2788920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Streamlit ภาษาไทย
แสดงขยะ กก.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1772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166"/>
                </a:solidFill>
                <a:latin typeface="Sarabun"/>
              </a:rPr>
              <a:t>นวัตกรรมหลัก  :  Per-Item Mean Normalization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285232"/>
            <a:ext cx="3767328" cy="12344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49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Sarabun"/>
              </a:rPr>
              <a:t>ปัญหา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Coffee ~34.6/วัน vs Brownie ~4.5/วัน
→ Scale ต่างกัน 8x โมเดลเดียวทำนายไม่ได้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0248" y="5285232"/>
            <a:ext cx="3767328" cy="12344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5349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1CF66"/>
                </a:solidFill>
                <a:latin typeface="Sarabun"/>
              </a:rPr>
              <a:t>วิธีแก้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0408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demand_norm = demand / item_mean
→ ทุกสินค้า normalize รอบ 1.0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0456" y="5285232"/>
            <a:ext cx="3767328" cy="12344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5349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94D"/>
                </a:solidFill>
                <a:latin typeface="Sarabun"/>
              </a:rPr>
              <a:t>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616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predicted = norm_factor × item_mean
→ แปลงกลับสู่หน่วยจริง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Target Users &amp; Market  —  กลุ่มเป้าหมายและขนาดตลาด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2816352" cy="30175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arabun"/>
              </a:rPr>
              <a:t>🍽️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9A7"/>
                </a:solidFill>
                <a:latin typeface="Sarabun"/>
              </a:rPr>
              <a:t>โรงอาหาร /
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788920"/>
            <a:ext cx="2633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วางแผนเตรียมอาหารรายวัน
ต้องการ Dashboard ภาษาไทย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1234440"/>
            <a:ext cx="2816352" cy="30175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32588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arabun"/>
              </a:rPr>
              <a:t>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210312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  <a:latin typeface="Sarabun"/>
              </a:rPr>
              <a:t>ร้านเบเกอรี่
ขนาดเล็ก-กลาง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788920"/>
            <a:ext cx="2633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ลดของเสียจากการเตรียมเกิน
เพิ่มกำไรด้วยข้อมูลจริง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234440"/>
            <a:ext cx="2816352" cy="30175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2588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arabun"/>
              </a:rPr>
              <a:t>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10312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1CF66"/>
                </a:solidFill>
                <a:latin typeface="Sarabun"/>
              </a:rPr>
              <a:t>โรงแรม /
โรงพยาบาล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788920"/>
            <a:ext cx="2633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วางแผนสั่งวัตถุดิบล่วงหน้า
ลดต้นทุนแผนกอาหาร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08008" y="1234440"/>
            <a:ext cx="2816352" cy="301752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132588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arabun"/>
              </a:rPr>
              <a:t>👨‍💻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10312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A94D"/>
                </a:solidFill>
                <a:latin typeface="Sarabun"/>
              </a:rPr>
              <a:t>นักเรียน
MLOps /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788920"/>
            <a:ext cx="2633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ศึกษา reference implementation
MLOps pipeline ครบวงจร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arabun"/>
              </a:rPr>
              <a:t>ขนาดตลาด (ประเทศไทย)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074920"/>
            <a:ext cx="2816352" cy="144475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1389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C9A7"/>
                </a:solidFill>
                <a:latin typeface="Sarabun"/>
              </a:rPr>
              <a:t>&gt; 2,000 แห่ง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71500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โรงอาหารในสถานศึกษา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82696" y="5074920"/>
            <a:ext cx="2816352" cy="144475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4136" y="51389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D166"/>
                </a:solidFill>
                <a:latin typeface="Sarabun"/>
              </a:rPr>
              <a:t>&gt; 50,000 ร้าน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571500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ร้านเบเกอรี่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5074920"/>
            <a:ext cx="2816352" cy="144475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1389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51CF66"/>
                </a:solidFill>
                <a:latin typeface="Sarabun"/>
              </a:rPr>
              <a:t>&gt; 3,000 แห่ง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71500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โรงแรม 3-5 ดาว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08008" y="5074920"/>
            <a:ext cx="2816352" cy="144475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51389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A94D"/>
                </a:solidFill>
                <a:latin typeface="Sarabun"/>
              </a:rPr>
              <a:t>&gt; 1,000 แห่ง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571500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โรงพยาบาล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System Architecture  —  สถาปัตยกรรมระบบ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21208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A7"/>
                </a:solidFill>
                <a:latin typeface="Sarabun"/>
              </a:rPr>
              <a:t>Training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484632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📂  bakery_sales_revised.csv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7627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20,507 transactions · Oct16–Apr17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57860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484632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⚙️  Prefect Flow (pipeline.py)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4495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Orchestrate all tasks · @flow @task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4728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484632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1187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1CF66"/>
                </a:solidFill>
                <a:latin typeface="Sarabun"/>
              </a:rPr>
              <a:t>🧠  PyTorch MLP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4→32→16→1 · 1,000 epochs · Adam · L1Loss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31596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34840"/>
            <a:ext cx="484632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48055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94D"/>
                </a:solidFill>
                <a:latin typeface="Sarabun"/>
              </a:rPr>
              <a:t>📊  MLflow + DagsHub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78231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params · MAE_normalized · n_records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18464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4846320" cy="713232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3492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  <a:latin typeface="Sarabun"/>
              </a:rPr>
              <a:t>💾  Save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5099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demand_model.pth · item_map.json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A7"/>
                </a:solidFill>
                <a:latin typeface="Sarabun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822191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arabun"/>
              </a:rPr>
              <a:t>model
artifacts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234440"/>
            <a:ext cx="557784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98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Serving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828800"/>
            <a:ext cx="2514600" cy="21488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892807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1CF66"/>
                </a:solidFill>
                <a:latin typeface="Sarabun"/>
              </a:rPr>
              <a:t>FastAPI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28600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Render.com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GET /health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9992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GET /items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34670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GET /predict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6060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166"/>
                </a:solidFill>
                <a:latin typeface="Sarabun"/>
              </a:rPr>
              <a:t>HTTP
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1828800"/>
            <a:ext cx="1783080" cy="21488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8672" y="1892807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94D"/>
                </a:solidFill>
                <a:latin typeface="Sarabun"/>
              </a:rPr>
              <a:t>Streamlit
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2487168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Sarabun"/>
              </a:rPr>
              <a:t>Streamlit
Cloud
ภาษาไทย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4133087"/>
            <a:ext cx="5257800" cy="14173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06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Sarabun"/>
              </a:rPr>
              <a:t>MLflow  +  DagsHub (Remote Tracking)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617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params · MAE_normalized · n_training_records · run history · model registry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029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Compare runs · Roll back to best model · Artifact 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Implementation  —  ML Pipeline &amp;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Prefect Orchestration  ·  MLflow Tracking  ·  DagsHub Remote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48640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Sarabun"/>
              </a:rPr>
              <a:t>Prefect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120640" cy="6400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11095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@flow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91109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food-waste-training-pipeline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420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33472"/>
            <a:ext cx="5120640" cy="6400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@task  load_data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67004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Read CSV · Validate 20,507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00984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92424"/>
            <a:ext cx="5120640" cy="6400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4290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1CF66"/>
                </a:solidFill>
                <a:latin typeface="Sarabun"/>
              </a:rPr>
              <a:t>@task 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4290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day_of_week · is_weekend · month_norm · day_norm · demand_norm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59935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51375"/>
            <a:ext cx="5120640" cy="6400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8795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94D"/>
                </a:solidFill>
                <a:latin typeface="Sarabun"/>
              </a:rPr>
              <a:t>@task  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87951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PyTorch MLP · 1,000 epochs · Adam lr=0.005 · L1Loss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18888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0327"/>
            <a:ext cx="5120640" cy="6400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946903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Sarabun"/>
              </a:rPr>
              <a:t>@task  mlflow_log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946903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log_params + log_metric(MAE_normalized)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7784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69279"/>
            <a:ext cx="5120640" cy="6400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05855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  <a:latin typeface="Sarabun"/>
              </a:rPr>
              <a:t>@task  save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70585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demand_model.pth  ·  item_map.json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1234440"/>
            <a:ext cx="585216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2984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arabun"/>
              </a:rPr>
              <a:t>MLflow  +  DagsHub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1874519"/>
            <a:ext cx="5486400" cy="201168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9385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Parameters Logged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3317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epochs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31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1000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5786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lr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578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0.005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8254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features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8254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day_of_week · is_weekend · month_norm · day_norm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0723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architecture 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0723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4-32-16-1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3192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normalization 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319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per_item_mean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566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loss_function 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L1Loss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4023360"/>
            <a:ext cx="5486400" cy="11887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0873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1CF66"/>
                </a:solidFill>
                <a:latin typeface="Sarabun"/>
              </a:rPr>
              <a:t>Metrics Logged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MAE_normalized       :  ~0.10 – 0.12  (validation set)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818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n_training_records   :  ~16,400  (80% split by date)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5349240"/>
            <a:ext cx="5486400" cy="777240"/>
          </a:xfrm>
          <a:prstGeom prst="roundRect">
            <a:avLst/>
          </a:prstGeom>
          <a:solidFill>
            <a:srgbClr val="1A3550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54132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DagsHub Remote MLflow  —  persistent across local &amp; cloud runs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760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Compare runs · Roll back · Model registry · Artifact 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Implementation  —  Model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MLP Architecture  ·  Feature Engineering  ·  Training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39496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Sarabun"/>
              </a:rPr>
              <a:t>MLP Neural Network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46304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  <a:latin typeface="Sarabun"/>
              </a:rPr>
              <a:t>Input  (4)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1463040" cy="36576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Sarabun"/>
              </a:rPr>
              <a:t>day_of_week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1463040" cy="36576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  <a:latin typeface="Sarabun"/>
              </a:rPr>
              <a:t>is_weekend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64992"/>
            <a:ext cx="1463040" cy="36576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64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1CF66"/>
                </a:solidFill>
                <a:latin typeface="Sarabun"/>
              </a:rPr>
              <a:t>month_norm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03904"/>
            <a:ext cx="1463040" cy="36576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A94D"/>
                </a:solidFill>
                <a:latin typeface="Sarabun"/>
              </a:rPr>
              <a:t>day_norm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2606040"/>
            <a:ext cx="1143000" cy="91440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6060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arabun"/>
              </a:rPr>
              <a:t>32
ReLU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2697480"/>
            <a:ext cx="1005840" cy="7315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269748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1CF66"/>
                </a:solidFill>
                <a:latin typeface="Sarabun"/>
              </a:rPr>
              <a:t>16
ReLU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840480"/>
            <a:ext cx="1645920" cy="5029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886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94D"/>
                </a:solidFill>
                <a:latin typeface="Sarabun"/>
              </a:rPr>
              <a:t>Output (1) — demand_norm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07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  <a:latin typeface="Sarabun"/>
              </a:rPr>
              <a:t>× item_mean  →  units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92040"/>
            <a:ext cx="5120640" cy="12801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560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Normalization Formula: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218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demand_norm  =  demand(item, day)  /  mean_demand(item)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predicted    =  norm_factor  x  item_mean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1234440"/>
            <a:ext cx="5852160" cy="260604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2984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arabun"/>
              </a:rPr>
              <a:t>Training 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Optimizer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1828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Adam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148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Learning Rate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148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0.005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468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Epochs 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468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788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Loss Function 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788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L1Loss (MAE)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108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Batch 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108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Full 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429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Device 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3429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rabun"/>
              </a:rPr>
              <a:t>CPU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3977639"/>
            <a:ext cx="5852160" cy="25146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0416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Sarabun"/>
              </a:rPr>
              <a:t>Per-Item Mean Demand (avg/day)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5720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Coffee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57200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34.6/day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5720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Tea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457200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9.1/day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9194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Bread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9194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20.9/day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9194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Sandwich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49194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5.0/day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2669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Cake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26694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7.0/day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2669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Pastry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526694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5.7/day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6144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Medialuna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56144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4.7/day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56144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Cookies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56144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3.8/day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59618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Hot Chocolate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96188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4.0/day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59618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Brownie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596188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166"/>
                </a:solidFill>
                <a:latin typeface="Sarabun"/>
              </a:rPr>
              <a:t>4.5/day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Implementation  — 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Docker  ·  Render.com  ·  Streamlit Cloud  ·  DagsHub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7315200" cy="329184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0C4DE"/>
                </a:solidFill>
                <a:latin typeface="Sarabun"/>
              </a:rPr>
              <a:t>Docker Compose  —  3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17627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A7"/>
                </a:solidFill>
                <a:latin typeface="Sarabun"/>
              </a:rPr>
              <a:t>mlflow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arabun"/>
              </a:rPr>
              <a:t>Port 5000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MLflow tracking server
./mlruns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874519"/>
            <a:ext cx="217627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9659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1CF66"/>
                </a:solidFill>
                <a:latin typeface="Sarabun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3774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arabun"/>
              </a:rPr>
              <a:t>Port 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274320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FastAPI · demand_model.pth
./models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Sarabu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874519"/>
            <a:ext cx="2176272" cy="24231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799" y="196596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94D"/>
                </a:solidFill>
                <a:latin typeface="Sarabun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799" y="23774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arabun"/>
              </a:rPr>
              <a:t>Port 8501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799" y="274320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Streamlit · Thai UI
Depends: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663440"/>
            <a:ext cx="7315200" cy="1874519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2744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arabun"/>
              </a:rPr>
              <a:t>Cloud Deployment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30368"/>
            <a:ext cx="384048" cy="2743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3036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3036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Push to GitHub  →  Render.com auto-deploy FastAPI 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41264"/>
            <a:ext cx="384048" cy="27432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412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4126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Streamlit Cloud connect GitHub  →  auto-deploy frontend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52159"/>
            <a:ext cx="384048" cy="27432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852159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5215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Set MLFLOW_TRACKING_URI env var  →  DagsHub remote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63056"/>
            <a:ext cx="384048" cy="274320"/>
          </a:xfrm>
          <a:prstGeom prst="round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16305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16305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Set API_URL env var in Streamlit Cloud  →  point to Render.com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1234440"/>
            <a:ext cx="402336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12984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Sarabun"/>
              </a:rPr>
              <a:t>Environment Variables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1874519"/>
            <a:ext cx="3611880" cy="86868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192023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MLFLOW_TRACKING_URI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3134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Backend  |  DagsHub MLflow URL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2926079"/>
            <a:ext cx="3611880" cy="86868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297179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MLFLOW_TRACKING_USERNAME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364991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Backend  |  DagsHub username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3977639"/>
            <a:ext cx="3611880" cy="86868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402335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1CF66"/>
                </a:solidFill>
                <a:latin typeface="Sarabun"/>
              </a:rPr>
              <a:t>MLFLOW_TRACKING_PASSWORD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4165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Backend  |  DagsHub access token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5029200"/>
            <a:ext cx="3611880" cy="86868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50749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94D"/>
                </a:solidFill>
                <a:latin typeface="Sarabun"/>
              </a:rPr>
              <a:t>API_URL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4681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Sarabun"/>
              </a:rPr>
              <a:t>Frontend  |  Render.com backend URL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6080760"/>
            <a:ext cx="3611880" cy="32004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609904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  <a:latin typeface="Sarabun"/>
              </a:rPr>
              <a:t>docker-compose up --build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Results &amp; Evaluation  —  ผลการทดสอบโมเดล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MAE Metrics  ·  Per-Item Performance  ·  Prediction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816352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9A7"/>
                </a:solidFill>
                <a:latin typeface="Sarabun"/>
              </a:rPr>
              <a:t>MAE_norm ~0.10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202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Normalized MAE
validation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1234440"/>
            <a:ext cx="2816352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32588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1CF66"/>
                </a:solidFill>
                <a:latin typeface="Sarabun"/>
              </a:rPr>
              <a:t>&lt; 16%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19202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ทุก item อยู่ใน
เป้าหมาย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234440"/>
            <a:ext cx="2816352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2588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  <a:latin typeface="Sarabun"/>
              </a:rPr>
              <a:t>80/20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202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แบ่งตามวันที่
(chronological)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8008" y="1234440"/>
            <a:ext cx="2816352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32588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A94D"/>
                </a:solidFill>
                <a:latin typeface="Sarabun"/>
              </a:rPr>
              <a:t>Baseline ~0.17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19202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Predict mean
every 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063240"/>
            <a:ext cx="5806440" cy="347472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27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Sarabun"/>
              </a:rPr>
              <a:t>Per-Item 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6301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30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Avg/day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6301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MAE (units)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6301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MAE%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6301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Coffee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050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34.6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0507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~2.8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0507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~8.1%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00507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CF66"/>
                </a:solidFill>
                <a:latin typeface="Sarabun"/>
              </a:rPr>
              <a:t>Good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25196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Tea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2519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9.1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251960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25196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251960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49884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4988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20.9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49884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~1.9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4988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~9.1%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49884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CF66"/>
                </a:solidFill>
                <a:latin typeface="Sarabun"/>
              </a:rPr>
              <a:t>Good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7457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Sandwich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7457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74573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74573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~14.0%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74573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499262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Cake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9926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7.0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499262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99262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~12.9%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99262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523951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Pastry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523951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523951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23951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~14.0%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523951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548640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Medialuna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54864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486400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548640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~14.9%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5486400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" y="573328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Cookies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5733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7520" y="573328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73328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~15.8%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573328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94D"/>
                </a:solidFill>
                <a:latin typeface="Sarabun"/>
              </a:rPr>
              <a:t>Marg.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98017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Hot Chocolate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0" y="59801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598017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59801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~15.0%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598017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Sarabun"/>
              </a:rPr>
              <a:t>OK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" y="622706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Brownie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28800" y="6227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17520" y="622706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~0.7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0" y="622706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~15.6%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622706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94D"/>
                </a:solidFill>
                <a:latin typeface="Sarabun"/>
              </a:rPr>
              <a:t>Marg.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3063240"/>
            <a:ext cx="5532120" cy="347472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312724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Sarabun"/>
              </a:rPr>
              <a:t>Prediction Example  —  Monday March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36301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Item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0" y="36301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Predicted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363016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Recommend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3630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Sarabun"/>
              </a:rPr>
              <a:t>Waste kg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6520" y="4005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Coffee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400507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33.8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35440" y="400507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35.5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40050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46520" y="425196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Tea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0" y="425196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8.7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35440" y="425196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9.1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425196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46520" y="44988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Bread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63840" y="449884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20.1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35440" y="449884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21.1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15600" y="44988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0.35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6520" y="4745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Sandwich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3840" y="474573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35440" y="474573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15600" y="47457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0.07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499262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Cake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63840" y="499262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6.7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35440" y="49926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7.0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0" y="499262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46520" y="523951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Pastry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63840" y="523951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35440" y="523951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5.8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15600" y="52395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46520" y="54864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Medialuna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63840" y="548640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35440" y="548640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15600" y="548640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0.07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46520" y="573328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Cookies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63840" y="573328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35440" y="573328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5600" y="573328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0.07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46520" y="59801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Hot Choc.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63840" y="598017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3.9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35440" y="598017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5600" y="598017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0.07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46520" y="6227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Brownie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63840" y="622706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35440" y="622706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arabun"/>
              </a:rPr>
              <a:t>4.5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15600" y="62270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1CF66"/>
                </a:solidFill>
                <a:latin typeface="Sarabun"/>
              </a:rPr>
              <a:t>0.07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UX/UI Demo  —  Thai Language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Streamlit Frontend  ·  ภาษาไทย  ·  Unit-Aware Display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92608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C4DE"/>
                </a:solidFill>
                <a:latin typeface="Sarabun"/>
              </a:rPr>
              <a:t>Sidebar  —  ตัวเลือก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560320" cy="73152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วันในสัปดาห์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จันทร์ / อังคาร /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2560320" cy="73152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Sarabun"/>
              </a:rPr>
              <a:t>เดือน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1–12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2560320" cy="73152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13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1CF66"/>
                </a:solidFill>
                <a:latin typeface="Sarabun"/>
              </a:rPr>
              <a:t>วันที่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33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1–31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63440"/>
            <a:ext cx="2560320" cy="731520"/>
          </a:xfrm>
          <a:prstGeom prst="roundRect">
            <a:avLst/>
          </a:prstGeom>
          <a:solidFill>
            <a:srgbClr val="162D44"/>
          </a:solidFill>
          <a:ln w="1016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27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94D"/>
                </a:solidFill>
                <a:latin typeface="Sarabun"/>
              </a:rPr>
              <a:t>รายการอาหาร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47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10 สินค้า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669280"/>
            <a:ext cx="2560320" cy="5029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arabun"/>
              </a:rPr>
              <a:t>พยากรณ์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1234440"/>
            <a:ext cx="841248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2984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arabun"/>
              </a:rPr>
              <a:t>Dashboard  —  ผลการพยากรณ์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1874519"/>
            <a:ext cx="2560320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9A7"/>
                </a:solidFill>
                <a:latin typeface="Sarabun"/>
              </a:rPr>
              <a:t>33.8 แก้ว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คาดการณ์
(Predicted Demand)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874519"/>
            <a:ext cx="2560320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1CF66"/>
                </a:solidFill>
                <a:latin typeface="Sarabun"/>
              </a:rPr>
              <a:t>35.5 แก้ว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แนะนำเตรียม
(+5% Safety Stock)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874519"/>
            <a:ext cx="2560320" cy="150876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19" y="1965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A94D"/>
                </a:solidFill>
                <a:latin typeface="Sarabun"/>
              </a:rPr>
              <a:t>0.60 กก.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Sarabun"/>
              </a:rPr>
              <a:t>ขยะที่ลดได้
(Waste Reduced)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52044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ตารางพยากรณ์ทุกรายการ (All-Items Table)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39319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รายการ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31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พยากรณ์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931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แนะนำ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93192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หน่วย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931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arabun"/>
              </a:rPr>
              <a:t>ขยะ กก.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2793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Coffee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279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33.8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79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35.5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279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แก้ว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279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1CF66"/>
                </a:solidFill>
                <a:latin typeface="Sarabun"/>
              </a:rPr>
              <a:t>0.60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Tea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5902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8.7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5902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9.1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59028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แก้ว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5902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1CF66"/>
                </a:solidFill>
                <a:latin typeface="Sarabun"/>
              </a:rPr>
              <a:t>0.14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490118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Bread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90118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20.1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90118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21.1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901183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ก้อน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90118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1CF66"/>
                </a:solidFill>
                <a:latin typeface="Sarabun"/>
              </a:rPr>
              <a:t>0.35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1880" y="521207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Sandwich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521207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4.8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21207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5212079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ชิ้น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21207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1CF66"/>
                </a:solidFill>
                <a:latin typeface="Sarabun"/>
              </a:rPr>
              <a:t>0.07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552297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Cake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55229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6.7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5229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7.0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5229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ชิ้น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5229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1CF66"/>
                </a:solidFill>
                <a:latin typeface="Sarabun"/>
              </a:rPr>
              <a:t>0.10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8521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5961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Sarabun"/>
              </a:rPr>
              <a:t>Thai UI  :  ภาษาไทยทั้งหมด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82696" y="5961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arabun"/>
              </a:rPr>
              <a:t>Units  :  แก้ว / ก้อน / ชิ้น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45352" y="5961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arabun"/>
              </a:rPr>
              <a:t>1-click  :  เลือก → พยากรณ์ทันที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08008" y="5961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arabun"/>
              </a:rPr>
              <a:t>No Setup  :  ไม่ต้องติดตั้งเพิ่มเติม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Impact &amp; Sustainability  —  ผลกระทบและความยั่งยืน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  <a:latin typeface="Sarabun"/>
              </a:rPr>
              <a:t>SDG 2 · SDG 12 · CO2 Reduction · Cost Savings · Long-Term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669280" cy="1874519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280160" cy="59436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Sarabun"/>
              </a:rPr>
              <a:t>SDG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1CF66"/>
                </a:solidFill>
                <a:latin typeface="Sarabun"/>
              </a:rPr>
              <a:t>Zero Hunger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Safety Stock +5% รับประกันความพร้อมของอาหาร
ของเหลือสามารถบริจาคได้ ไม่ถูกทิ้ง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669280" cy="1874519"/>
          </a:xfrm>
          <a:prstGeom prst="roundRect">
            <a:avLst/>
          </a:prstGeom>
          <a:solidFill>
            <a:srgbClr val="162D44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1280160" cy="59436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Sarabun"/>
              </a:rPr>
              <a:t>SDG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arabun"/>
              </a:rPr>
              <a:t>Responsible 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Sarabun"/>
              </a:rPr>
              <a:t>เปลี่ยนจาก gut feeling → Data-Driven Decision
แสดงตัวเลขขยะ (กก.) สร้าง awareness ได้จริง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29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A7"/>
                </a:solidFill>
                <a:latin typeface="Sarabun"/>
              </a:rPr>
              <a:t>ผลกระทบที่วัดได้ (Measurable Impact)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931920"/>
            <a:ext cx="2816352" cy="18288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02336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1CF66"/>
                </a:solidFill>
                <a:latin typeface="Sarabun"/>
              </a:rPr>
              <a:t>4,562 กก. CO2e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61772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ลดต่อปี ต่อ 1 ร้าน
(ลดขยะ 5 กก./วัน)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3931920"/>
            <a:ext cx="2816352" cy="18288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94D"/>
                </a:solidFill>
                <a:latin typeface="Sarabun"/>
              </a:rPr>
              <a:t>60,000 บาท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1772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ประหยัดต่อปี
(ลดขยะ 10% ต้นทุน)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931920"/>
            <a:ext cx="2816352" cy="18288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02336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A7"/>
                </a:solidFill>
                <a:latin typeface="Sarabun"/>
              </a:rPr>
              <a:t>&lt; 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61772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MAE สูงสุด
ทุก item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8008" y="3931920"/>
            <a:ext cx="2816352" cy="18288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02336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  <a:latin typeface="Sarabun"/>
              </a:rPr>
              <a:t>50,000+ ร้าน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461772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ตลาดเป้าหมาย
ในไทย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70448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5989320"/>
            <a:ext cx="2176272" cy="5943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6035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Sarabun"/>
              </a:rPr>
              <a:t>M3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603504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Auto-retrain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5989320"/>
            <a:ext cx="2176272" cy="5943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6035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Sarabun"/>
              </a:rPr>
              <a:t>M6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603504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A/B Testing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79" y="5989320"/>
            <a:ext cx="2176272" cy="5943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19" y="6035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1CF66"/>
                </a:solidFill>
                <a:latin typeface="Sarabun"/>
              </a:rPr>
              <a:t>Y1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41847" y="603504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Multi-location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199" y="5989320"/>
            <a:ext cx="2176272" cy="5943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6035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94D"/>
                </a:solidFill>
                <a:latin typeface="Sarabun"/>
              </a:rPr>
              <a:t>Y2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7" y="603504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Event features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19" y="5989320"/>
            <a:ext cx="2176272" cy="59436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59" y="6035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Sarabun"/>
              </a:rPr>
              <a:t>Y3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5288" y="603504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AI Assistant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Team &amp; Contributions  —  ทีมและการแบ่งหน้าที่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577840" cy="5257800"/>
          </a:xfrm>
          <a:prstGeom prst="roundRect">
            <a:avLst/>
          </a:prstGeom>
          <a:solidFill>
            <a:srgbClr val="10223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011680" cy="201168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Sarabun"/>
              </a:rPr>
              <a:t>👨‍💻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46304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arabun"/>
              </a:rPr>
              <a:t>Palus Kaewaram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arabun"/>
              </a:rPr>
              <a:t>66070131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77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9A7"/>
                </a:solidFill>
                <a:latin typeface="Sarabun"/>
              </a:rPr>
              <a:t>Full-Stack MLOps Developer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40"/>
            <a:ext cx="521208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Sarabun"/>
              </a:rPr>
              <a:t>ความรับผิดชอบ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96512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239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Data Engineering &amp; Feature 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25696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5312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PyTorch MLP Model · Hyperparameter Tuning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82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Prefect Pipeline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84064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1149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MLflow + DagsHub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13248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FastAPI Backend (/health /items /predict)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42432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6986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Streamlit Frontend (Thai UI)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071616"/>
            <a:ext cx="521208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09904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Docker · docker-compose · Deployment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1234440"/>
            <a:ext cx="5760720" cy="5257800"/>
          </a:xfrm>
          <a:prstGeom prst="roundRect">
            <a:avLst/>
          </a:prstGeom>
          <a:solidFill>
            <a:srgbClr val="10223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1417320"/>
            <a:ext cx="2011680" cy="2011680"/>
          </a:xfrm>
          <a:prstGeom prst="roundRect">
            <a:avLst/>
          </a:prstGeom>
          <a:solidFill>
            <a:srgbClr val="162D44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508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Sarabun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46304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Natthapol Aiemburanont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01168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Sarabun"/>
              </a:rPr>
              <a:t>66070062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3774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  <a:latin typeface="Sarabun"/>
              </a:rPr>
              <a:t>System Designer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520440"/>
            <a:ext cx="539496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657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Sarabun"/>
              </a:rPr>
              <a:t>ความรับผิดชอบ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096512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1239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System Architecture Design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425696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45312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Requirements Elicitation &amp; User Stories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754880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823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Technology Stack Evaluation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084064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1114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UX Design &amp; Thai Language Specification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5413248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44068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Presentation Design &amp; Slide Structure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742432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76986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SDG Impact Assessment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6071616"/>
            <a:ext cx="5394960" cy="27432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60990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arabun"/>
              </a:rPr>
              <a:t>•  QA Review &amp;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097280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Conclusion &amp; Future Work  —  สรุปและแนวทางพัฒนา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5486400" cy="525780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1CF66"/>
                </a:solidFill>
                <a:latin typeface="Sarabun"/>
              </a:rPr>
              <a:t>สิ่งที่ทำสำเร็จ (Key Achievements)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120640" cy="74980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09728" cy="7498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Sarabun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202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MLP 4→32→16→1 · per-item norm · MAE&lt;16%
ทุก item อยู่ในเกณฑ์เป้าหมาย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5120640" cy="74980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61487"/>
            <a:ext cx="109728" cy="7498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072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arabun"/>
              </a:rPr>
              <a:t>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0720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Prefect · MLflow · DagsHub · Docker
Pipeline ครบวงจร reproducible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48456"/>
            <a:ext cx="5120640" cy="74980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48456"/>
            <a:ext cx="109728" cy="749808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941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1CF66"/>
                </a:solidFill>
                <a:latin typeface="Sarabun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69417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FastAPI on Render + Streamlit Cloud
Free-tier · Production-ready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35424"/>
            <a:ext cx="5120640" cy="74980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35424"/>
            <a:ext cx="109728" cy="749808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81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94D"/>
                </a:solidFill>
                <a:latin typeface="Sarabun"/>
              </a:rPr>
              <a:t>UX/UI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58114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Thai-language dashboard · unit-aware
3-click workflow ไม่ต้องฝึก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22392"/>
            <a:ext cx="5120640" cy="749808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422392"/>
            <a:ext cx="109728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Sarabun"/>
              </a:rPr>
              <a:t>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4681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Sarabun"/>
              </a:rPr>
              <a:t>4,562 kg CO2e/year/shop · 60,000 บาท/ปี
SDG 2 &amp; SDG 12 aligned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234440"/>
            <a:ext cx="5852160" cy="242316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2984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A94D"/>
                </a:solidFill>
                <a:latin typeface="Sarabun"/>
              </a:rPr>
              <a:t>ข้อจำกัด (Limitations)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87451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94D"/>
                </a:solidFill>
                <a:latin typeface="Sarabun"/>
              </a:rPr>
              <a:t>⚠  Dataset: 1 bakery · 7 months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3134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94D"/>
                </a:solidFill>
                <a:latin typeface="Sarabun"/>
              </a:rPr>
              <a:t>⚠  No event/holiday feature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5234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94D"/>
                </a:solidFill>
                <a:latin typeface="Sarabun"/>
              </a:rPr>
              <a:t>⚠  Point estimates (no confidence interval)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19125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94D"/>
                </a:solidFill>
                <a:latin typeface="Sarabun"/>
              </a:rPr>
              <a:t>⚠  10 items fixed — no dynamic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794760"/>
            <a:ext cx="5852160" cy="2697480"/>
          </a:xfrm>
          <a:prstGeom prst="roundRect">
            <a:avLst/>
          </a:prstGeom>
          <a:solidFill>
            <a:srgbClr val="102234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85876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Sarabun"/>
              </a:rPr>
              <a:t>Future Roadmap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407408"/>
            <a:ext cx="50292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4074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M3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40740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Auto-retrain on new sales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818888"/>
            <a:ext cx="502920" cy="347472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8188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81888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Monte Carlo Dropout confidence intervals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5230368"/>
            <a:ext cx="502920" cy="347472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52303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Y1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230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Multi-tenant · LINE chatbot integration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5641848"/>
            <a:ext cx="502920" cy="347472"/>
          </a:xfrm>
          <a:prstGeom prst="round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56418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Y2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64184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Weather &amp; event features · 50+ items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6053328"/>
            <a:ext cx="502920" cy="34747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60533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arabun"/>
              </a:rPr>
              <a:t>Y3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605332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arabun"/>
              </a:rPr>
              <a:t>ASEAN expansion · AI natural language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-457200"/>
            <a:ext cx="4114800" cy="411480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731520"/>
            <a:ext cx="2286000" cy="22860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3657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Sarabun"/>
              </a:rPr>
              <a:t>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arabun"/>
              </a:rPr>
              <a:t>ขอบคุณ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1">
                <a:solidFill>
                  <a:srgbClr val="00C9A7"/>
                </a:solidFill>
                <a:latin typeface="Sarabun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37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A7"/>
                </a:solidFill>
                <a:latin typeface="Sarabun"/>
              </a:rPr>
              <a:t>20,507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297680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transactions
real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arabun"/>
              </a:rPr>
              <a:t>4→32→16→1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4297680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MLP Neural
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6903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3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1CF66"/>
                </a:solidFill>
                <a:latin typeface="Sarabun"/>
              </a:rPr>
              <a:t>+5%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3" y="4297680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Stock buffer
auto-applied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94D"/>
                </a:solidFill>
                <a:latin typeface="Sarabun"/>
              </a:rPr>
              <a:t>0.35 กก./unit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4297680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Waste factor
per item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3767" y="3547872"/>
            <a:ext cx="2176272" cy="1965960"/>
          </a:xfrm>
          <a:prstGeom prst="round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207" y="3639312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  <a:latin typeface="Sarabun"/>
              </a:rPr>
              <a:t>SDG 2 + 12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7" y="4297680"/>
            <a:ext cx="1993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Zero Hunger
Resp. Consumption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23560"/>
            <a:ext cx="1143000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arabun"/>
              </a:rPr>
              <a:t>PyTorch  ·  Prefect  ·  MLflow  ·  DagsHub  ·  FastAPI  ·  Streamlit  ·  Docker  |  Render.com  ·  Streamlit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362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A7"/>
                </a:solidFill>
                <a:latin typeface="Sarabun"/>
              </a:rPr>
              <a:t>Palus Kaewaram (66070131)   ·   Natthapol Aiemburanont (66070062)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