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961120" y="274320"/>
            <a:ext cx="2743200" cy="274320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0" y="50292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FFFFFF"/>
                </a:solidFill>
                <a:latin typeface="Sarabun"/>
              </a:rPr>
              <a:t>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365760"/>
            <a:ext cx="3200400" cy="502920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9319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Sarabun"/>
              </a:rPr>
              <a:t>SDG 2  ·  SDG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arabun"/>
              </a:rPr>
              <a:t>ระบบพยากรณ์ความต้องการอาหาร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74519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00C9A7"/>
                </a:solidFill>
                <a:latin typeface="Sarabun"/>
              </a:rPr>
              <a:t>และวางแผนลดขยะ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B0C4DE"/>
                </a:solidFill>
                <a:latin typeface="Sarabun"/>
              </a:rPr>
              <a:t>Food Waste Prediction &amp; Optimization Planner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337560"/>
            <a:ext cx="11430000" cy="1828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3493008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4DE"/>
                </a:solidFill>
                <a:latin typeface="Sarabun"/>
              </a:rPr>
              <a:t>ผู้พัฒนา :  Palus Kaewaram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58768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4DE"/>
                </a:solidFill>
                <a:latin typeface="Sarabun"/>
              </a:rPr>
              <a:t>รหัสนักศึกษา :  66070131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24528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4DE"/>
                </a:solidFill>
                <a:latin typeface="Sarabun"/>
              </a:rPr>
              <a:t>วิชา :  MLOps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5943600"/>
            <a:ext cx="1737360" cy="457200"/>
          </a:xfrm>
          <a:prstGeom prst="roundRect">
            <a:avLst/>
          </a:prstGeom>
          <a:solidFill>
            <a:srgbClr val="162D44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5943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C9A7"/>
                </a:solidFill>
                <a:latin typeface="Sarabun"/>
              </a:rPr>
              <a:t>PyTorch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5943600"/>
            <a:ext cx="1737360" cy="457200"/>
          </a:xfrm>
          <a:prstGeom prst="roundRect">
            <a:avLst/>
          </a:prstGeom>
          <a:solidFill>
            <a:srgbClr val="162D44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86000" y="5943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C9A7"/>
                </a:solidFill>
                <a:latin typeface="Sarabun"/>
              </a:rPr>
              <a:t>Prefect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5943600"/>
            <a:ext cx="1737360" cy="457200"/>
          </a:xfrm>
          <a:prstGeom prst="roundRect">
            <a:avLst/>
          </a:prstGeom>
          <a:solidFill>
            <a:srgbClr val="162D44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5943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C9A7"/>
                </a:solidFill>
                <a:latin typeface="Sarabun"/>
              </a:rPr>
              <a:t>MLflow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5943600"/>
            <a:ext cx="1737360" cy="457200"/>
          </a:xfrm>
          <a:prstGeom prst="roundRect">
            <a:avLst/>
          </a:prstGeom>
          <a:solidFill>
            <a:srgbClr val="162D44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5943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C9A7"/>
                </a:solidFill>
                <a:latin typeface="Sarabun"/>
              </a:rPr>
              <a:t>FastAPI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5943600"/>
            <a:ext cx="1737360" cy="457200"/>
          </a:xfrm>
          <a:prstGeom prst="roundRect">
            <a:avLst/>
          </a:prstGeom>
          <a:solidFill>
            <a:srgbClr val="162D44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5943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C9A7"/>
                </a:solidFill>
                <a:latin typeface="Sarabun"/>
              </a:rPr>
              <a:t>Streamlit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66960" y="5943600"/>
            <a:ext cx="1737360" cy="457200"/>
          </a:xfrm>
          <a:prstGeom prst="roundRect">
            <a:avLst/>
          </a:prstGeom>
          <a:solidFill>
            <a:srgbClr val="162D44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5943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C9A7"/>
                </a:solidFill>
                <a:latin typeface="Sarabun"/>
              </a:rPr>
              <a:t>Docker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051560"/>
            <a:ext cx="109728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arabun"/>
              </a:rPr>
              <a:t>บทที่ 1  —  ความเป็นมาของปัญหา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3474720" cy="201168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00C9A7"/>
                </a:solidFill>
                <a:latin typeface="Sarabun"/>
              </a:rPr>
              <a:t>1 ใน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1168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0C4DE"/>
                </a:solidFill>
                <a:latin typeface="Sarabun"/>
              </a:rPr>
              <a:t>ของอาหารทั่วโลกถูกทิ้ง
เป็นขยะทุกปี (FAO)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1188720"/>
            <a:ext cx="3474720" cy="201168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132588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6B6B"/>
                </a:solidFill>
                <a:latin typeface="Sarabun"/>
              </a:rPr>
              <a:t>800 ล้าน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01168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0C4DE"/>
                </a:solidFill>
                <a:latin typeface="Sarabun"/>
              </a:rPr>
              <a:t>คนยังขาดแคลนอาหาร
ทั่วโลก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1188720"/>
            <a:ext cx="3931920" cy="201168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A94D"/>
                </a:solidFill>
                <a:latin typeface="Sarabun"/>
              </a:rPr>
              <a:t>1.3 พันล้าน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0116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0C4DE"/>
                </a:solidFill>
                <a:latin typeface="Sarabun"/>
              </a:rPr>
              <a:t>ตันต่อปีที่สูญเสีย
ไปโดยเปล่าประโยชน์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37560"/>
            <a:ext cx="11430000" cy="1828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D166"/>
                </a:solidFill>
                <a:latin typeface="Sarabun"/>
              </a:rPr>
              <a:t>ปัญหาที่โรงอาหาร / ร้านเบเกอรี่พบบ่อย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977639"/>
            <a:ext cx="3749039" cy="173736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0690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arabun"/>
              </a:rPr>
              <a:t>❌  เตรียมอาหารเกิน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  <a:latin typeface="Sarabun"/>
              </a:rPr>
              <a:t>ไม่รู้ว่าแต่ละวันควรเตรียมเท่าไร → ของเหลือ → ทิ้ง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3977639"/>
            <a:ext cx="3749039" cy="173736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40690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arabun"/>
              </a:rPr>
              <a:t>❌  ขาดข้อมูลจริง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  <a:latin typeface="Sarabun"/>
              </a:rPr>
              <a:t>ตัดสินใจด้วยความรู้สึก ไม่ใช่ข้อมูล (gut feeling)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977639"/>
            <a:ext cx="3749039" cy="173736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40690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Sarabun"/>
              </a:rPr>
              <a:t>❌  ความผันผวนตามวัน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  <a:latin typeface="Sarabun"/>
              </a:rPr>
              <a:t>ยอดขายวันหยุด ≠ วันธรรมดา ยากจะคาดเดา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051560"/>
            <a:ext cx="109728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arabun"/>
              </a:rPr>
              <a:t>การแก้ไขปัญหา (Solution)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188720"/>
            <a:ext cx="777240" cy="777240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18872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1B2A"/>
                </a:solidFill>
                <a:latin typeface="Sarabun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3258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B0C4DE"/>
                </a:solidFill>
                <a:latin typeface="Sarabun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148840"/>
            <a:ext cx="2148840" cy="228600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267712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9A7"/>
                </a:solidFill>
                <a:latin typeface="Sarabun"/>
              </a:rPr>
              <a:t>โหลดข้อมูลจริง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88920"/>
            <a:ext cx="1965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ยอดขาย 20,507 รายการ
ต.ค. 2016 – เม.ย. 2017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188720"/>
            <a:ext cx="777240" cy="777240"/>
          </a:xfrm>
          <a:prstGeom prst="round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118872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1B2A"/>
                </a:solidFill>
                <a:latin typeface="Sarabu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3258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B0C4DE"/>
                </a:solidFill>
                <a:latin typeface="Sarabun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79" y="2148840"/>
            <a:ext cx="2148840" cy="228600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8920" y="2267712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166"/>
                </a:solidFill>
                <a:latin typeface="Sarabun"/>
              </a:rPr>
              <a:t>ฝึกโมเดล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2788920"/>
            <a:ext cx="1965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PyTorch Linear Regression
เรียนรู้ pattern ตามวัน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32120" y="1188720"/>
            <a:ext cx="777240" cy="777240"/>
          </a:xfrm>
          <a:prstGeom prst="roundRect">
            <a:avLst/>
          </a:prstGeom>
          <a:solidFill>
            <a:srgbClr val="51C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32120" y="118872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1B2A"/>
                </a:solidFill>
                <a:latin typeface="Sarabu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3258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B0C4DE"/>
                </a:solidFill>
                <a:latin typeface="Sarabun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2148840"/>
            <a:ext cx="2148840" cy="228600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0" y="2267712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1CF66"/>
                </a:solidFill>
                <a:latin typeface="Sarabun"/>
              </a:rPr>
              <a:t>พยากรณ์ยอดขาย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2788920"/>
            <a:ext cx="1965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ทำนายรายการอาหารแต่ละชนิด
ตามวันในสัปดาห์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1188720"/>
            <a:ext cx="777240" cy="777240"/>
          </a:xfrm>
          <a:prstGeom prst="roundRect">
            <a:avLst/>
          </a:prstGeom>
          <a:solidFill>
            <a:srgbClr val="FFA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0" y="118872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1B2A"/>
                </a:solidFill>
                <a:latin typeface="Sarabun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13258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B0C4DE"/>
                </a:solidFill>
                <a:latin typeface="Sarabun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19" y="2148840"/>
            <a:ext cx="2148840" cy="228600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52359" y="2267712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94D"/>
                </a:solidFill>
                <a:latin typeface="Sarabun"/>
              </a:rPr>
              <a:t>Safety Stock +5%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59" y="2788920"/>
            <a:ext cx="1965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บวกเผื่อ 5% เพื่อไม่ให้ของขาด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95560" y="1188720"/>
            <a:ext cx="777240" cy="777240"/>
          </a:xfrm>
          <a:prstGeom prst="round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95560" y="118872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1B2A"/>
                </a:solidFill>
                <a:latin typeface="Sarabun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92640" y="2148840"/>
            <a:ext cx="2148840" cy="228600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267712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6B"/>
                </a:solidFill>
                <a:latin typeface="Sarabun"/>
              </a:rPr>
              <a:t>แสดงผล Dashboard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0" y="2788920"/>
            <a:ext cx="1965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Streamlit UI ภาษาไทย
พร้อมตัวเลขขยะที่ลดได้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663440"/>
            <a:ext cx="11430000" cy="1828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48006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D166"/>
                </a:solidFill>
                <a:latin typeface="Sarabun"/>
              </a:rPr>
              <a:t>ตัวอย่างผลลัพธ์ที่ระบบให้: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5212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A7"/>
                </a:solidFill>
                <a:latin typeface="Sarabun"/>
              </a:rPr>
              <a:t>รายการ / วัน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5212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A7"/>
                </a:solidFill>
                <a:latin typeface="Sarabun"/>
              </a:rPr>
              <a:t>คาดการณ์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52160" y="52120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A7"/>
                </a:solidFill>
                <a:latin typeface="Sarabun"/>
              </a:rPr>
              <a:t>แนะนำเตรียม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79" y="5212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A7"/>
                </a:solidFill>
                <a:latin typeface="Sarabun"/>
              </a:rPr>
              <a:t>ขยะที่ลดได้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55778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arabun"/>
              </a:rPr>
              <a:t>☕ Coffee / วันจันทร์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40480" y="55778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arabun"/>
              </a:rPr>
              <a:t>34.1 แก้ว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0" y="557784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arabun"/>
              </a:rPr>
              <a:t>35.8 แก้ว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79" y="55778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arabun"/>
              </a:rPr>
              <a:t>0.60 กก.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592531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arabun"/>
              </a:rPr>
              <a:t>🍞 Bread / วันเสาร์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0" y="592531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arabun"/>
              </a:rPr>
              <a:t>28.7 ก้อน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52160" y="592531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arabun"/>
              </a:rPr>
              <a:t>30.1 ก้อน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592531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arabun"/>
              </a:rPr>
              <a:t>0.49 กก.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6272783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arabun"/>
              </a:rPr>
              <a:t>🎂 Cake / วันอาทิตย์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40480" y="6272783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arabun"/>
              </a:rPr>
              <a:t>18.3 ชิ้น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52160" y="6272783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arabun"/>
              </a:rPr>
              <a:t>19.2 ชิ้น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6272783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arabun"/>
              </a:rPr>
              <a:t>0.31 กก.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051560"/>
            <a:ext cx="109728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arabun"/>
              </a:rPr>
              <a:t>สถาปัตยกรรมระบบ (System Architecture)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188720"/>
            <a:ext cx="5120640" cy="5303520"/>
          </a:xfrm>
          <a:prstGeom prst="roundRect">
            <a:avLst/>
          </a:prstGeom>
          <a:solidFill>
            <a:srgbClr val="102234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9A7"/>
                </a:solidFill>
                <a:latin typeface="Sarabun"/>
              </a:rPr>
              <a:t>Training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4709160" cy="73152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9A7"/>
                </a:solidFill>
                <a:latin typeface="Sarabun"/>
              </a:rPr>
              <a:t>📂 bakery_sales_revised.csv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39112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Sarabun"/>
              </a:rPr>
              <a:t>20,507 transactions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441448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C9A7"/>
                </a:solidFill>
                <a:latin typeface="Sarabun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587752"/>
            <a:ext cx="4709160" cy="73152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33472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166"/>
                </a:solidFill>
                <a:latin typeface="Sarabun"/>
              </a:rPr>
              <a:t>⚙️  Prefect Flow (pipeline.py)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35224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Sarabun"/>
              </a:rPr>
              <a:t>Orchestrate all tasks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337560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C9A7"/>
                </a:solidFill>
                <a:latin typeface="Sarabun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83864"/>
            <a:ext cx="4709160" cy="73152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1CF66"/>
                </a:solidFill>
                <a:latin typeface="Sarabun"/>
              </a:rPr>
              <a:t>🧠 PyTorch 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831336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Sarabun"/>
              </a:rPr>
              <a:t>Linear Regression · 300 epochs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2336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C9A7"/>
                </a:solidFill>
                <a:latin typeface="Sarabun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79976"/>
            <a:ext cx="4709160" cy="73152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425696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A94D"/>
                </a:solidFill>
                <a:latin typeface="Sarabun"/>
              </a:rPr>
              <a:t>📊 MLflow Logging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727448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Sarabun"/>
              </a:rPr>
              <a:t>Track params + MAE metric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5129784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C9A7"/>
                </a:solidFill>
                <a:latin typeface="Sarabun"/>
              </a:rPr>
              <a:t>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76088"/>
            <a:ext cx="4709160" cy="73152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321807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0C4DE"/>
                </a:solidFill>
                <a:latin typeface="Sarabun"/>
              </a:rPr>
              <a:t>💾 Save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62355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Sarabun"/>
              </a:rPr>
              <a:t>demand_model.pth · item_map.json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31089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C9A7"/>
                </a:solidFill>
                <a:latin typeface="Sarabun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361188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C4DE"/>
                </a:solidFill>
                <a:latin typeface="Sarabun"/>
              </a:rPr>
              <a:t>model
artifacts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1188720"/>
            <a:ext cx="5669280" cy="5303520"/>
          </a:xfrm>
          <a:prstGeom prst="roundRect">
            <a:avLst/>
          </a:prstGeom>
          <a:solidFill>
            <a:srgbClr val="102234"/>
          </a:solidFill>
          <a:ln w="1270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1234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166"/>
                </a:solidFill>
                <a:latin typeface="Sarabun"/>
              </a:rPr>
              <a:t>Serving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1737360"/>
            <a:ext cx="2468880" cy="2011680"/>
          </a:xfrm>
          <a:prstGeom prst="roundRect">
            <a:avLst/>
          </a:prstGeom>
          <a:solidFill>
            <a:srgbClr val="162D44"/>
          </a:solidFill>
          <a:ln w="12700">
            <a:solidFill>
              <a:srgbClr val="51C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17830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1CF66"/>
                </a:solidFill>
                <a:latin typeface="Sarabun"/>
              </a:rPr>
              <a:t>⚡ FastAPI Backend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/health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26517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/items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31089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/predict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474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C9A7"/>
                </a:solidFill>
                <a:latin typeface="Sarabun"/>
              </a:rPr>
              <a:t>Port 8000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2514600"/>
            <a:ext cx="822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C4DE"/>
                </a:solidFill>
                <a:latin typeface="Sarabun"/>
              </a:rPr>
              <a:t>HTTP
/predict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24688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D166"/>
                </a:solidFill>
                <a:latin typeface="Sarabun"/>
              </a:rPr>
              <a:t>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149840" y="1737360"/>
            <a:ext cx="1554480" cy="2011680"/>
          </a:xfrm>
          <a:prstGeom prst="roundRect">
            <a:avLst/>
          </a:prstGeom>
          <a:solidFill>
            <a:srgbClr val="162D44"/>
          </a:solidFill>
          <a:ln w="12700">
            <a:solidFill>
              <a:srgbClr val="FFA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60" y="17830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A94D"/>
                </a:solidFill>
                <a:latin typeface="Sarabun"/>
              </a:rPr>
              <a:t>🖥️ Streamlit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60" y="2240280"/>
            <a:ext cx="1417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Sarabun"/>
              </a:rPr>
              <a:t>Dashboard
ภาษาไทย
Port 8501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09360" y="3931920"/>
            <a:ext cx="5349240" cy="1371600"/>
          </a:xfrm>
          <a:prstGeom prst="roundRect">
            <a:avLst/>
          </a:prstGeom>
          <a:solidFill>
            <a:srgbClr val="162D44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400507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9A7"/>
                </a:solidFill>
                <a:latin typeface="Sarabun"/>
              </a:rPr>
              <a:t>📈 MLflow UI  (Port 5000)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40740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Track: epochs · lr · features · MAE_normalized · n_training_records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4892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Sarabun"/>
              </a:rPr>
              <a:t>Compare runs · Roll back to best model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051560"/>
            <a:ext cx="109728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arabun"/>
              </a:rPr>
              <a:t>หลักการทำงานของโมเดล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5303520" cy="128016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94D"/>
                </a:solidFill>
                <a:latin typeface="Sarabun"/>
              </a:rPr>
              <a:t>⚠️  ปัญหา: สินค้าแต่ละชนิดขายต่างปริมาณมาก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  <a:latin typeface="Sarabun"/>
              </a:rPr>
              <a:t>Coffee ~34 แก้ว/วัน  vs  Brownie ~12 ชิ้น/วัน
→ โมเดลเดียวทำนายทั้งหมดไม่ได้ถ้าไม่ normalize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188720"/>
            <a:ext cx="5852160" cy="128016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123444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1CF66"/>
                </a:solidFill>
                <a:latin typeface="Sarabun"/>
              </a:rPr>
              <a:t>✅  แก้ด้วย Item Mean Normalization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600200"/>
            <a:ext cx="5577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  <a:latin typeface="Sarabun"/>
              </a:rPr>
              <a:t>Normalize ยอดขายด้วย mean ของแต่ละสินค้า → โมเดลเรียนรู้ pattern วัน (≈1.0)
ตอน inference: คูณ norm_factor × item_mean กลับ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06040"/>
            <a:ext cx="11430000" cy="1828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743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D166"/>
                </a:solidFill>
                <a:latin typeface="Sarabun"/>
              </a:rPr>
              <a:t>ขั้นตอนการคำนวณ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246120"/>
            <a:ext cx="548640" cy="502920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24612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  <a:latin typeface="Sarabun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3246120"/>
            <a:ext cx="10698480" cy="50292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310127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A7"/>
                </a:solidFill>
                <a:latin typeface="Sarabun"/>
              </a:rPr>
              <a:t>Normalize :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3310127"/>
            <a:ext cx="9235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arabun"/>
              </a:rPr>
              <a:t>demand_norm = demand(item,day) ÷ mean_demand(item)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904487"/>
            <a:ext cx="548640" cy="502920"/>
          </a:xfrm>
          <a:prstGeom prst="round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904487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  <a:latin typeface="Sarabun"/>
              </a:rPr>
              <a:t>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3904487"/>
            <a:ext cx="10698480" cy="50292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968496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66"/>
                </a:solidFill>
                <a:latin typeface="Sarabun"/>
              </a:rPr>
              <a:t>Train :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3968496"/>
            <a:ext cx="9235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arabun"/>
              </a:rPr>
              <a:t>LinearRegression( day_of_week , is_weekend ) → norm_factor  ≈ 1.0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562856"/>
            <a:ext cx="548640" cy="502920"/>
          </a:xfrm>
          <a:prstGeom prst="roundRect">
            <a:avLst/>
          </a:prstGeom>
          <a:solidFill>
            <a:srgbClr val="51C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562856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  <a:latin typeface="Sarabun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4562856"/>
            <a:ext cx="10698480" cy="50292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62686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1CF66"/>
                </a:solidFill>
                <a:latin typeface="Sarabun"/>
              </a:rPr>
              <a:t>Predict :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4626864"/>
            <a:ext cx="9235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arabun"/>
              </a:rPr>
              <a:t>predicted_demand = norm_factor × mean_demand(item)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5221224"/>
            <a:ext cx="548640" cy="502920"/>
          </a:xfrm>
          <a:prstGeom prst="roundRect">
            <a:avLst/>
          </a:prstGeom>
          <a:solidFill>
            <a:srgbClr val="FFA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221224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  <a:latin typeface="Sarabun"/>
              </a:rPr>
              <a:t>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5221224"/>
            <a:ext cx="10698480" cy="50292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28523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A94D"/>
                </a:solidFill>
                <a:latin typeface="Sarabun"/>
              </a:rPr>
              <a:t>Safety Stock 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285232"/>
            <a:ext cx="9235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arabun"/>
              </a:rPr>
              <a:t>recommended_qty = predicted_demand × 1.05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5879592"/>
            <a:ext cx="548640" cy="502920"/>
          </a:xfrm>
          <a:prstGeom prst="round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5879592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  <a:latin typeface="Sarabun"/>
              </a:rPr>
              <a:t>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" y="5879592"/>
            <a:ext cx="10698480" cy="50292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9436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6B"/>
                </a:solidFill>
                <a:latin typeface="Sarabun"/>
              </a:rPr>
              <a:t>Waste :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31720" y="5943600"/>
            <a:ext cx="9235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arabun"/>
              </a:rPr>
              <a:t>waste_reduced_kg = (recommended − predicted) × 0.35 กก.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051560"/>
            <a:ext cx="109728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arabun"/>
              </a:rPr>
              <a:t>เทคโนโลยีที่ใช้ (Tech Stack)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3749039" cy="2423160"/>
          </a:xfrm>
          <a:prstGeom prst="roundRect">
            <a:avLst/>
          </a:prstGeom>
          <a:solidFill>
            <a:srgbClr val="162D44"/>
          </a:solidFill>
          <a:ln w="19050">
            <a:solidFill>
              <a:srgbClr val="FFA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A94D"/>
                </a:solidFill>
                <a:latin typeface="Sarabun"/>
              </a:rPr>
              <a:t>🔥 PyTorch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1298448"/>
            <a:ext cx="868680" cy="347472"/>
          </a:xfrm>
          <a:prstGeom prst="roundRect">
            <a:avLst/>
          </a:prstGeom>
          <a:solidFill>
            <a:srgbClr val="FFA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0" y="1298448"/>
            <a:ext cx="868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Sarabun"/>
              </a:rPr>
              <a:t>≥ 2.4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10512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Machine Learning
Linear Regression · Adam · L1Loss
CPU-only → image ~800 MB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749039" cy="2423160"/>
          </a:xfrm>
          <a:prstGeom prst="roundRect">
            <a:avLst/>
          </a:prstGeom>
          <a:solidFill>
            <a:srgbClr val="162D44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29844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9A7"/>
                </a:solidFill>
                <a:latin typeface="Sarabun"/>
              </a:rPr>
              <a:t>🌀 Prefect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0" y="1298448"/>
            <a:ext cx="868680" cy="347472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1298448"/>
            <a:ext cx="868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Sarabun"/>
              </a:rPr>
              <a:t>≥ 2.20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810512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Pipeline Orchestration
@flow + @task decomposition
Log prints + run tracking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188720"/>
            <a:ext cx="3749039" cy="2423160"/>
          </a:xfrm>
          <a:prstGeom prst="roundRect">
            <a:avLst/>
          </a:prstGeom>
          <a:solidFill>
            <a:srgbClr val="162D44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29844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D166"/>
                </a:solidFill>
                <a:latin typeface="Sarabun"/>
              </a:rPr>
              <a:t>📊 MLflow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0" y="1298448"/>
            <a:ext cx="868680" cy="347472"/>
          </a:xfrm>
          <a:prstGeom prst="round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0" y="1298448"/>
            <a:ext cx="868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Sarabun"/>
              </a:rPr>
              <a:t>≥ 2.14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1810512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Experiment Tracking
Log params + MAE metric
Local ./mlruns store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794760"/>
            <a:ext cx="3749039" cy="2423160"/>
          </a:xfrm>
          <a:prstGeom prst="roundRect">
            <a:avLst/>
          </a:prstGeom>
          <a:solidFill>
            <a:srgbClr val="162D44"/>
          </a:solidFill>
          <a:ln w="19050">
            <a:solidFill>
              <a:srgbClr val="51C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90448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1CF66"/>
                </a:solidFill>
                <a:latin typeface="Sarabun"/>
              </a:rPr>
              <a:t>⚡ FastAPI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08960" y="3904488"/>
            <a:ext cx="868680" cy="347472"/>
          </a:xfrm>
          <a:prstGeom prst="roundRect">
            <a:avLst/>
          </a:prstGeom>
          <a:solidFill>
            <a:srgbClr val="51C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08960" y="3904488"/>
            <a:ext cx="868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Sarabun"/>
              </a:rPr>
              <a:t>≥ 0.111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16552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REST API Backend
/health · /items · /predict
Auto Swagger UI ที่ /docs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3794760"/>
            <a:ext cx="3749039" cy="2423160"/>
          </a:xfrm>
          <a:prstGeom prst="roundRect">
            <a:avLst/>
          </a:prstGeom>
          <a:solidFill>
            <a:srgbClr val="162D44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90448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B6B"/>
                </a:solidFill>
                <a:latin typeface="Sarabun"/>
              </a:rPr>
              <a:t>🖥️ Streamlit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0880" y="3904488"/>
            <a:ext cx="868680" cy="347472"/>
          </a:xfrm>
          <a:prstGeom prst="round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0" y="3904488"/>
            <a:ext cx="868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Sarabun"/>
              </a:rPr>
              <a:t>≥ 1.36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416552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Frontend Dashboard
ภาษาไทยทั้งหมด
cache_data · metric cards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3794760"/>
            <a:ext cx="3749039" cy="2423160"/>
          </a:xfrm>
          <a:prstGeom prst="roundRect">
            <a:avLst/>
          </a:prstGeom>
          <a:solidFill>
            <a:srgbClr val="162D44"/>
          </a:solidFill>
          <a:ln w="19050"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390448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0C4DE"/>
                </a:solidFill>
                <a:latin typeface="Sarabun"/>
              </a:rPr>
              <a:t>🐳 Docker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972800" y="3904488"/>
            <a:ext cx="868680" cy="347472"/>
          </a:xfrm>
          <a:prstGeom prst="round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0" y="3904488"/>
            <a:ext cx="868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Sarabun"/>
              </a:rPr>
              <a:t>latest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416552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Containerization
3 services: mlflow, backend
frontend · compose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051560"/>
            <a:ext cx="109728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arabun"/>
              </a:rPr>
              <a:t>ข้อมูลและโครงสร้างโปรเจกต์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5577840" cy="182880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6187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D166"/>
                </a:solidFill>
                <a:latin typeface="Sarabun"/>
              </a:rPr>
              <a:t>📂 ข้อมูลที่ใช้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แหล่งข้อมูล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66420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arabun"/>
              </a:rPr>
              <a:t>bakery_sales_revised.csv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84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จำนวน 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198424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arabun"/>
              </a:rPr>
              <a:t>20,507 transactions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0428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ช่วงเวลา 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30428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arabun"/>
              </a:rPr>
              <a:t>ต.ค. 2016 – เม.ย. 2017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2432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รายการ 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6243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arabun"/>
              </a:rPr>
              <a:t>10 สินค้าขายดีที่สุด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188720"/>
            <a:ext cx="5669280" cy="420624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261872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9A7"/>
                </a:solidFill>
                <a:latin typeface="Sarabun"/>
              </a:rPr>
              <a:t>ค่าเฉลี่ยยอดขายรายวัน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719072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☕ Coffee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1719072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  <a:latin typeface="Sarabun"/>
              </a:rPr>
              <a:t>~34.1 แก้ว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066543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🍵 Tea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2066543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  <a:latin typeface="Sarabun"/>
              </a:rPr>
              <a:t>~24.8 แก้ว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414015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🍞 Bread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2414015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  <a:latin typeface="Sarabun"/>
              </a:rPr>
              <a:t>~22.3 ก้อน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76148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🥪 Sandwich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2761488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  <a:latin typeface="Sarabun"/>
              </a:rPr>
              <a:t>~18.7 ชิ้น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108960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🎂 Cake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3108960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  <a:latin typeface="Sarabun"/>
              </a:rPr>
              <a:t>~16.4 ชิ้น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456432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🥐 Pastry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3456432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  <a:latin typeface="Sarabun"/>
              </a:rPr>
              <a:t>~15.9 ชิ้น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3803904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🥐 Medialuna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0" y="3803904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  <a:latin typeface="Sarabun"/>
              </a:rPr>
              <a:t>~14.2 ชิ้น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15137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🍪 Cookies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4151376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  <a:latin typeface="Sarabun"/>
              </a:rPr>
              <a:t>~13.5 ชิ้น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449884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🍫 Hot Chocolate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0" y="4498848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  <a:latin typeface="Sarabun"/>
              </a:rPr>
              <a:t>~12.8 แก้ว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4846320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🍫 Brownie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0" y="4846320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  <a:latin typeface="Sarabun"/>
              </a:rPr>
              <a:t>~11.6 ชิ้น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3200400"/>
            <a:ext cx="5577840" cy="338328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2735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9A7"/>
                </a:solidFill>
                <a:latin typeface="Sarabun"/>
              </a:rPr>
              <a:t>📁 โครงสร้างโปรเจกต์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37033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Sarabun"/>
              </a:rPr>
              <a:t>MLOPS Project/
├── src/
│   ├── pipeline.py   ← Prefect training pipeline
│   └── api.py        ← FastAPI backend
├── app.py            ← Streamlit frontend (ไทย)
├── data/bakery_sales_revised.csv
├── models/           ← สร้างหลัง training
│   ├── demand_model.pth
│   └── item_map.json
├── Dockerfile
└── docker-compose.yml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051560"/>
            <a:ext cx="109728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arabun"/>
              </a:rPr>
              <a:t>กลุ่มเป้าหมาย (Target Users / Target Market)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2697480" cy="3200400"/>
          </a:xfrm>
          <a:prstGeom prst="roundRect">
            <a:avLst/>
          </a:prstGeom>
          <a:solidFill>
            <a:srgbClr val="162D44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2697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FFFFFF"/>
                </a:solidFill>
                <a:latin typeface="Sarabun"/>
              </a:rPr>
              <a:t>🍽️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0C9A7"/>
                </a:solidFill>
                <a:latin typeface="Sarabun"/>
              </a:rPr>
              <a:t>โรงอาหาร /
มหาวิทยาลัย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  <a:latin typeface="Sarabun"/>
              </a:rPr>
              <a:t>เจ้าหน้าที่ที่ต้องวางแผนเตรียมอาหารรายวัน
ต้องการ Dashboard ภาษาไทย ใช้ง่าย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188720"/>
            <a:ext cx="2697480" cy="3200400"/>
          </a:xfrm>
          <a:prstGeom prst="roundRect">
            <a:avLst/>
          </a:prstGeom>
          <a:solidFill>
            <a:srgbClr val="162D44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280160"/>
            <a:ext cx="2697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FFFFFF"/>
                </a:solidFill>
                <a:latin typeface="Sarabun"/>
              </a:rPr>
              <a:t>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0574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D166"/>
                </a:solidFill>
                <a:latin typeface="Sarabun"/>
              </a:rPr>
              <a:t>ร้านเบเกอรี่
ขนาดเล็ก-กลาง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697480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  <a:latin typeface="Sarabun"/>
              </a:rPr>
              <a:t>ต้องการลดของเสียจากการเตรียมเกิน
เพิ่มกำไรจากการใช้ข้อมูลจริง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188720"/>
            <a:ext cx="2697480" cy="3200400"/>
          </a:xfrm>
          <a:prstGeom prst="roundRect">
            <a:avLst/>
          </a:prstGeom>
          <a:solidFill>
            <a:srgbClr val="162D44"/>
          </a:solidFill>
          <a:ln w="19050">
            <a:solidFill>
              <a:srgbClr val="51C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280160"/>
            <a:ext cx="2697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FFFFFF"/>
                </a:solidFill>
                <a:latin typeface="Sarabun"/>
              </a:rPr>
              <a:t>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0574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51CF66"/>
                </a:solidFill>
                <a:latin typeface="Sarabun"/>
              </a:rPr>
              <a:t>โรงแรม /
โรงพยาบาล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697480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  <a:latin typeface="Sarabun"/>
              </a:rPr>
              <a:t>วางแผนสั่งซื้อวัตถุดิบล่วงหน้า
ลดต้นทุนแผนกอาหาร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40" y="1188720"/>
            <a:ext cx="2697480" cy="3200400"/>
          </a:xfrm>
          <a:prstGeom prst="roundRect">
            <a:avLst/>
          </a:prstGeom>
          <a:solidFill>
            <a:srgbClr val="162D44"/>
          </a:solidFill>
          <a:ln w="19050">
            <a:solidFill>
              <a:srgbClr val="FFA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1280160"/>
            <a:ext cx="2697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FFFFFF"/>
                </a:solidFill>
                <a:latin typeface="Sarabun"/>
              </a:rPr>
              <a:t>👨‍💻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057400"/>
            <a:ext cx="2514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A94D"/>
                </a:solidFill>
                <a:latin typeface="Sarabun"/>
              </a:rPr>
              <a:t>นักเรียน
MLOps /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2697480"/>
            <a:ext cx="2514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  <a:latin typeface="Sarabun"/>
              </a:rPr>
              <a:t>ศึกษา reference implementation
MLOps pipeline ครบวงจร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17720"/>
            <a:ext cx="11430000" cy="1828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7548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D166"/>
                </a:solidFill>
                <a:latin typeface="Sarabun"/>
              </a:rPr>
              <a:t>ขนาดตลาด (ประเทศไทย)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5193792"/>
            <a:ext cx="2788920" cy="137160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25780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C9A7"/>
                </a:solidFill>
                <a:latin typeface="Sarabun"/>
              </a:rPr>
              <a:t>&gt; 2,000 แห่ง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760720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  <a:latin typeface="Sarabun"/>
              </a:rPr>
              <a:t>โรงอาหารในสถานศึกษา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5193792"/>
            <a:ext cx="2788920" cy="137160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0" y="525780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D166"/>
                </a:solidFill>
                <a:latin typeface="Sarabun"/>
              </a:rPr>
              <a:t>&gt; 50,000 ร้าน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5760720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  <a:latin typeface="Sarabun"/>
              </a:rPr>
              <a:t>ร้านเบเกอรี่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5193792"/>
            <a:ext cx="2788920" cy="137160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525780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1CF66"/>
                </a:solidFill>
                <a:latin typeface="Sarabun"/>
              </a:rPr>
              <a:t>&gt; 3,000 แห่ง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5760720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  <a:latin typeface="Sarabun"/>
              </a:rPr>
              <a:t>โรงแรม 3-5 ดาว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0" y="5193792"/>
            <a:ext cx="2788920" cy="137160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0" y="525780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A94D"/>
                </a:solidFill>
                <a:latin typeface="Sarabun"/>
              </a:rPr>
              <a:t>&gt; 1,000 แห่ง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5760720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  <a:latin typeface="Sarabun"/>
              </a:rPr>
              <a:t>โรงพยาบาล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051560"/>
            <a:ext cx="109728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arabun"/>
              </a:rPr>
              <a:t>Social Impact &amp; Assessment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5623560" cy="1828800"/>
          </a:xfrm>
          <a:prstGeom prst="roundRect">
            <a:avLst/>
          </a:prstGeom>
          <a:solidFill>
            <a:srgbClr val="162D44"/>
          </a:solidFill>
          <a:ln w="25400">
            <a:solidFill>
              <a:srgbClr val="51C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280160" cy="594360"/>
          </a:xfrm>
          <a:prstGeom prst="roundRect">
            <a:avLst/>
          </a:prstGeom>
          <a:solidFill>
            <a:srgbClr val="51C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  <a:latin typeface="Sarabun"/>
              </a:rPr>
              <a:t>SDG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38988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1CF66"/>
                </a:solidFill>
                <a:latin typeface="Sarabun"/>
              </a:rPr>
              <a:t>Zero Hunger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  <a:latin typeface="Sarabun"/>
              </a:rPr>
              <a:t>Safety Stock +5% ช่วยให้มีอาหารพร้อมบริการสม่ำเสมอ
ไม่ขาดแคลน · อาหารเหลือสามารถบริจาคได้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188720"/>
            <a:ext cx="5623560" cy="1828800"/>
          </a:xfrm>
          <a:prstGeom prst="roundRect">
            <a:avLst/>
          </a:prstGeom>
          <a:solidFill>
            <a:srgbClr val="162D44"/>
          </a:solidFill>
          <a:ln w="2540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1325880"/>
            <a:ext cx="1280160" cy="594360"/>
          </a:xfrm>
          <a:prstGeom prst="round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  <a:latin typeface="Sarabun"/>
              </a:rPr>
              <a:t>SDG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138988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D166"/>
                </a:solidFill>
                <a:latin typeface="Sarabun"/>
              </a:rPr>
              <a:t>Responsible Consumption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92024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  <a:latin typeface="Sarabun"/>
              </a:rPr>
              <a:t>เปลี่ยนจาก gut feeling → Data-Driven Decision
แสดงตัวเลขขยะ (กก.) สร้าง awareness ได้จริง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00400"/>
            <a:ext cx="11430000" cy="1828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3375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9A7"/>
                </a:solidFill>
                <a:latin typeface="Sarabun"/>
              </a:rPr>
              <a:t>ผลกระทบที่วัดได้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94760"/>
            <a:ext cx="2788920" cy="265176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913632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1CF66"/>
                </a:solidFill>
                <a:latin typeface="Sarabun"/>
              </a:rPr>
              <a:t>4,562 กก. CO₂e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572000"/>
            <a:ext cx="2606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4DE"/>
                </a:solidFill>
                <a:latin typeface="Sarabun"/>
              </a:rPr>
              <a:t>ลดต่อปี ต่อ 1 ร้าน
(ลดขยะ 5 กก./วัน)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3794760"/>
            <a:ext cx="2788920" cy="265176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3913632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A94D"/>
                </a:solidFill>
                <a:latin typeface="Sarabun"/>
              </a:rPr>
              <a:t>60,000 บาท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4572000"/>
            <a:ext cx="2606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4DE"/>
                </a:solidFill>
                <a:latin typeface="Sarabun"/>
              </a:rPr>
              <a:t>ประหยัดต่อปี
(ลดขยะ 10% ของต้นทุน)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794760"/>
            <a:ext cx="2788920" cy="265176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3913632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B6B"/>
                </a:solidFill>
                <a:latin typeface="Sarabun"/>
              </a:rPr>
              <a:t>1 ใน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572000"/>
            <a:ext cx="2606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4DE"/>
                </a:solidFill>
                <a:latin typeface="Sarabun"/>
              </a:rPr>
              <a:t>ของขยะอาหารทั่วโลก
สามารถป้องกันได้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3794760"/>
            <a:ext cx="2788920" cy="265176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0" y="3913632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C9A7"/>
                </a:solidFill>
                <a:latin typeface="Sarabun"/>
              </a:rPr>
              <a:t>&lt; 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4572000"/>
            <a:ext cx="2606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4DE"/>
                </a:solidFill>
                <a:latin typeface="Sarabun"/>
              </a:rPr>
              <a:t>error rate
ของการพยากรณ์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051560"/>
            <a:ext cx="109728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arabun"/>
              </a:rPr>
              <a:t>Sustainability / Unfair Advantage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9A7"/>
                </a:solidFill>
                <a:latin typeface="Sarabun"/>
              </a:rPr>
              <a:t>ความยั่งยืน (Sustainability)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27632"/>
            <a:ext cx="2788920" cy="192024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719072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arabun"/>
              </a:rPr>
              <a:t>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C9A7"/>
                </a:solidFill>
                <a:latin typeface="Sarabun"/>
              </a:rPr>
              <a:t>Retraining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33472"/>
            <a:ext cx="2606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  <a:latin typeface="Sarabun"/>
              </a:rPr>
              <a:t>Prefect flow พร้อม retrain
ทุก 3 เดือน ด้วยข้อมูลใหม่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627632"/>
            <a:ext cx="2788920" cy="192024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719072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arabun"/>
              </a:rPr>
              <a:t>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24028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C9A7"/>
                </a:solidFill>
                <a:latin typeface="Sarabun"/>
              </a:rPr>
              <a:t>Experiment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633472"/>
            <a:ext cx="2606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  <a:latin typeface="Sarabun"/>
              </a:rPr>
              <a:t>MLflow บันทึกทุก run
เปรียบเทียบและ roll back ได้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27632"/>
            <a:ext cx="2788920" cy="192024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719072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arabun"/>
              </a:rPr>
              <a:t>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24028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C9A7"/>
                </a:solidFill>
                <a:latin typeface="Sarabun"/>
              </a:rPr>
              <a:t>Docker Containerized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633472"/>
            <a:ext cx="2606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  <a:latin typeface="Sarabun"/>
              </a:rPr>
              <a:t>Deploy ได้ทุก server
Scalable · Reproducible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627632"/>
            <a:ext cx="2788920" cy="192024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1719072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arabun"/>
              </a:rPr>
              <a:t>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24028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C9A7"/>
                </a:solidFill>
                <a:latin typeface="Sarabun"/>
              </a:rPr>
              <a:t>Modular Architecture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633472"/>
            <a:ext cx="2606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  <a:latin typeface="Sarabun"/>
              </a:rPr>
              <a:t>เปลี่ยน model / stack
ได้อิสระแต่ละส่วน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749039"/>
            <a:ext cx="11430000" cy="1828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91363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D166"/>
                </a:solidFill>
                <a:latin typeface="Sarabun"/>
              </a:rPr>
              <a:t>ข้อได้เปรียบ (Unfair Advantage)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407408"/>
            <a:ext cx="11430000" cy="41148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45312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  <a:latin typeface="Sarabun"/>
              </a:rPr>
              <a:t>🧮 Item Mean Normalization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4453128"/>
            <a:ext cx="7498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โมเดลเดียวรองรับสินค้าทุกชนิด generalize ดีแม้ข้อมูลมีจำกัด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4864608"/>
            <a:ext cx="11430000" cy="41148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91032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  <a:latin typeface="Sarabun"/>
              </a:rPr>
              <a:t>🇹🇭 Thai-First UX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4910328"/>
            <a:ext cx="7498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ภาษาไทย · หน่วยถูกต้อง (แก้ว/ชิ้น/ก้อน) · ใช้ได้ทันทีโดยไม่ต้องฝึก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5321808"/>
            <a:ext cx="11430000" cy="41148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36752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  <a:latin typeface="Sarabun"/>
              </a:rPr>
              <a:t>🌿 Zero External AI Cost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60520" y="5367528"/>
            <a:ext cx="7498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รันบน CPU ใน container เอง ไม่พึ่ง OpenAI/cloud API ไม่มีค่าใช้จ่าย per-request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5779008"/>
            <a:ext cx="11430000" cy="41148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82472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  <a:latin typeface="Sarabun"/>
              </a:rPr>
              <a:t>📏 Measurable SDG Impact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5824728"/>
            <a:ext cx="7498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แสดงตัวเลขขยะ (กก.) ทุก prediction → สร้าง behavioral change จริง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236208"/>
            <a:ext cx="11430000" cy="41148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28192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  <a:latin typeface="Sarabun"/>
              </a:rPr>
              <a:t>🏭 Production-Ready MLOps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60520" y="6281928"/>
            <a:ext cx="7498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Sarabun"/>
              </a:rPr>
              <a:t>Healthcheck · Error handling · Experiment tracking · CI/CD ready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051560"/>
            <a:ext cx="109728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arabun"/>
              </a:rPr>
              <a:t>Team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280160"/>
            <a:ext cx="3200400" cy="3200400"/>
          </a:xfrm>
          <a:prstGeom prst="roundRect">
            <a:avLst/>
          </a:prstGeom>
          <a:solidFill>
            <a:srgbClr val="162D44"/>
          </a:solidFill>
          <a:ln w="254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0" i="0">
                <a:solidFill>
                  <a:srgbClr val="FFFFFF"/>
                </a:solidFill>
                <a:latin typeface="Sarabun"/>
              </a:rPr>
              <a:t>👨‍💻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0233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C9A7"/>
                </a:solidFill>
                <a:latin typeface="Sarabun"/>
              </a:rPr>
              <a:t>Full-Stack MLOps Developer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371600"/>
            <a:ext cx="685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Sarabun"/>
              </a:rPr>
              <a:t>Palus Kaewaram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0574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4DE"/>
                </a:solidFill>
                <a:latin typeface="Sarabun"/>
              </a:rPr>
              <a:t>รหัสนักศึกษา : 66070131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487168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4DE"/>
                </a:solidFill>
                <a:latin typeface="Sarabun"/>
              </a:rPr>
              <a:t>วิชา : MLOps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3063240"/>
            <a:ext cx="6858000" cy="1828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24612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166"/>
                </a:solidFill>
                <a:latin typeface="Sarabun"/>
              </a:rPr>
              <a:t>ความรับผิดชอบ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3730752"/>
            <a:ext cx="3383280" cy="59436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3767328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A7"/>
                </a:solidFill>
                <a:latin typeface="Sarabun"/>
              </a:rPr>
              <a:t>Data Engineering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6732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Sarabun"/>
              </a:rPr>
              <a:t>วิเคราะห์ข้อมูล · Feature engineering · Normalization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3730752"/>
            <a:ext cx="3383280" cy="59436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7" y="3767328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A7"/>
                </a:solidFill>
                <a:latin typeface="Sarabun"/>
              </a:rPr>
              <a:t>Machine Learning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38360" y="376732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Sarabun"/>
              </a:rPr>
              <a:t>PyTorch model · Item mean scaling · Hyperparameter tuning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4480560"/>
            <a:ext cx="3383280" cy="59436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4517136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A7"/>
                </a:solidFill>
                <a:latin typeface="Sarabun"/>
              </a:rPr>
              <a:t>MLOps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517136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Sarabun"/>
              </a:rPr>
              <a:t>Prefect flow · MLflow tracking · Model artifact management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4480560"/>
            <a:ext cx="3383280" cy="59436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4517136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A7"/>
                </a:solidFill>
                <a:latin typeface="Sarabun"/>
              </a:rPr>
              <a:t>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4517136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Sarabun"/>
              </a:rPr>
              <a:t>FastAPI server · Prediction logic · Error handling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5230368"/>
            <a:ext cx="3383280" cy="59436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73168" y="5266944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A7"/>
                </a:solidFill>
                <a:latin typeface="Sarabun"/>
              </a:rPr>
              <a:t>Frontend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5266944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Sarabun"/>
              </a:rPr>
              <a:t>Streamlit UI ภาษาไทย · Thai item/unit mapping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5230368"/>
            <a:ext cx="3383280" cy="59436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9327" y="5266944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A7"/>
                </a:solidFill>
                <a:latin typeface="Sarabun"/>
              </a:rPr>
              <a:t>DevOps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5266944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Sarabun"/>
              </a:rPr>
              <a:t>Dockerfile · docker-compose · CPU-only optimization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686800" y="-457200"/>
            <a:ext cx="4114800" cy="411480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01200" y="731520"/>
            <a:ext cx="2286000" cy="2286000"/>
          </a:xfrm>
          <a:prstGeom prst="roundRect">
            <a:avLst/>
          </a:prstGeom>
          <a:solidFill>
            <a:srgbClr val="10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0" y="36576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FFFFFF"/>
                </a:solidFill>
                <a:latin typeface="Sarabun"/>
              </a:rPr>
              <a:t>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Sarabun"/>
              </a:rPr>
              <a:t>ขอบคุณ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77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1">
                <a:solidFill>
                  <a:srgbClr val="00C9A7"/>
                </a:solidFill>
                <a:latin typeface="Sarabun"/>
              </a:rPr>
              <a:t>Thank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291840"/>
            <a:ext cx="11430000" cy="1828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3474720"/>
            <a:ext cx="2148840" cy="192024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566160"/>
            <a:ext cx="1965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C9A7"/>
                </a:solidFill>
                <a:latin typeface="Sarabun"/>
              </a:rPr>
              <a:t>20,507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06240"/>
            <a:ext cx="1965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  <a:latin typeface="Sarabun"/>
              </a:rPr>
              <a:t>transactions
ข้อมูลจริง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0048" y="3474720"/>
            <a:ext cx="2148840" cy="192024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1488" y="3566160"/>
            <a:ext cx="1965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D166"/>
                </a:solidFill>
                <a:latin typeface="Sarabun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1488" y="4206240"/>
            <a:ext cx="1965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  <a:latin typeface="Sarabun"/>
              </a:rPr>
              <a:t>รายการอาหาร
ที่รองรับ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3474720"/>
            <a:ext cx="2148840" cy="192024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5776" y="3566160"/>
            <a:ext cx="1965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1CF66"/>
                </a:solidFill>
                <a:latin typeface="Sarabun"/>
              </a:rPr>
              <a:t>+5%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5776" y="4206240"/>
            <a:ext cx="1965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  <a:latin typeface="Sarabun"/>
              </a:rPr>
              <a:t>Safety Stock
อัตโนมัติ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78624" y="3474720"/>
            <a:ext cx="2148840" cy="192024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0064" y="3566160"/>
            <a:ext cx="1965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A94D"/>
                </a:solidFill>
                <a:latin typeface="Sarabun"/>
              </a:rPr>
              <a:t>0.35 กก.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0064" y="4206240"/>
            <a:ext cx="1965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  <a:latin typeface="Sarabun"/>
              </a:rPr>
              <a:t>waste factor
ต่อหน่วย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82912" y="3474720"/>
            <a:ext cx="2148840" cy="1920240"/>
          </a:xfrm>
          <a:prstGeom prst="roundRect">
            <a:avLst/>
          </a:prstGeom>
          <a:solidFill>
            <a:srgbClr val="16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3566160"/>
            <a:ext cx="1965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B6B"/>
                </a:solidFill>
                <a:latin typeface="Sarabun"/>
              </a:rPr>
              <a:t>3 Services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4352" y="4206240"/>
            <a:ext cx="1965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  <a:latin typeface="Sarabun"/>
              </a:rPr>
              <a:t>MLflow · API
Streamlit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577840"/>
            <a:ext cx="11430000" cy="1828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5715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4DE"/>
                </a:solidFill>
                <a:latin typeface="Sarabun"/>
              </a:rPr>
              <a:t>พัฒนาด้วย  PyTorch · Prefect · MLflow · FastAPI · Streamlit · Docker  |  SDG 2 · SDG 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1996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C9A7"/>
                </a:solidFill>
                <a:latin typeface="Sarabun"/>
              </a:rPr>
              <a:t>Palus Kaewaram  —  66070131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